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Segoe UI Black" panose="020B0A02040204020203" pitchFamily="34" charset="0"/>
      <p:bold r:id="rId11"/>
      <p:boldItalic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72" y="14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2801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a:blip r:embed="rId3">
            <a:extLst>
              <a:ext uri="{BEBA8EAE-BF5A-486C-A8C5-ECC9F3942E4B}">
                <a14:imgProps xmlns:a14="http://schemas.microsoft.com/office/drawing/2010/main">
                  <a14:imgLayer r:embed="rId4">
                    <a14:imgEffect>
                      <a14:sharpenSoften amount="-50000"/>
                    </a14:imgEffect>
                  </a14:imgLayer>
                </a14:imgProps>
              </a:ext>
            </a:extLst>
          </a:blip>
          <a:tile tx="0" ty="0" sx="100000" sy="100000" flip="none" algn="tl"/>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tretch>
            <a:fillRect/>
          </a:stretch>
        </p:blipFill>
        <p:spPr>
          <a:xfrm>
            <a:off x="9144000" y="-22302"/>
            <a:ext cx="5486400" cy="8229600"/>
          </a:xfrm>
          <a:prstGeom prst="rect">
            <a:avLst/>
          </a:prstGeom>
        </p:spPr>
      </p:pic>
      <p:sp>
        <p:nvSpPr>
          <p:cNvPr id="3" name="Text 0"/>
          <p:cNvSpPr/>
          <p:nvPr/>
        </p:nvSpPr>
        <p:spPr>
          <a:xfrm>
            <a:off x="793790" y="1053309"/>
            <a:ext cx="7556421" cy="1417558"/>
          </a:xfrm>
          <a:prstGeom prst="rect">
            <a:avLst/>
          </a:prstGeom>
          <a:noFill/>
          <a:ln/>
        </p:spPr>
        <p:txBody>
          <a:bodyPr wrap="square" lIns="0" tIns="0" rIns="0" bIns="0" rtlCol="0" anchor="t"/>
          <a:lstStyle/>
          <a:p>
            <a:pPr marL="0" indent="0" algn="l">
              <a:lnSpc>
                <a:spcPts val="5550"/>
              </a:lnSpc>
              <a:buNone/>
            </a:pPr>
            <a:r>
              <a:rPr lang="en-US" sz="3600" dirty="0">
                <a:solidFill>
                  <a:srgbClr val="CBCCCE"/>
                </a:solidFill>
                <a:latin typeface="Segoe UI Black" panose="020B0A02040204020203" pitchFamily="34" charset="0"/>
                <a:ea typeface="Segoe UI Black" panose="020B0A02040204020203" pitchFamily="34" charset="0"/>
                <a:cs typeface="Instrument Sans Semi Bold" pitchFamily="34" charset="-120"/>
              </a:rPr>
              <a:t>ZUDIO Sales Dashboard – 2024</a:t>
            </a:r>
            <a:endParaRPr lang="en-US" sz="3600" dirty="0">
              <a:latin typeface="Segoe UI Black" panose="020B0A02040204020203" pitchFamily="34" charset="0"/>
              <a:ea typeface="Segoe UI Black" panose="020B0A02040204020203" pitchFamily="34" charset="0"/>
            </a:endParaRPr>
          </a:p>
        </p:txBody>
      </p:sp>
      <p:sp>
        <p:nvSpPr>
          <p:cNvPr id="4" name="Text 1"/>
          <p:cNvSpPr/>
          <p:nvPr/>
        </p:nvSpPr>
        <p:spPr>
          <a:xfrm>
            <a:off x="793790" y="2811028"/>
            <a:ext cx="7556421" cy="1814513"/>
          </a:xfrm>
          <a:prstGeom prst="rect">
            <a:avLst/>
          </a:prstGeom>
          <a:noFill/>
          <a:ln/>
        </p:spPr>
        <p:txBody>
          <a:bodyPr wrap="square" lIns="0" tIns="0" rIns="0" bIns="0" rtlCol="0" anchor="t"/>
          <a:lstStyle/>
          <a:p>
            <a:pPr marL="0" indent="0" algn="l">
              <a:lnSpc>
                <a:spcPts val="2850"/>
              </a:lnSpc>
              <a:buNone/>
            </a:pPr>
            <a:r>
              <a:rPr lang="en-US" sz="1750" b="1" dirty="0">
                <a:solidFill>
                  <a:srgbClr val="CFD0D8"/>
                </a:solidFill>
                <a:latin typeface="Segoe UI Black" panose="020B0A02040204020203" pitchFamily="34" charset="0"/>
                <a:ea typeface="Segoe UI Black" panose="020B0A02040204020203" pitchFamily="34" charset="0"/>
                <a:cs typeface="Instrument Sans Medium" pitchFamily="34" charset="-120"/>
              </a:rPr>
              <a:t>Overview</a:t>
            </a: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 The "Zudio Sales in 2024" Power BI Dashboard provides actionable insights by transforming raw sales data into clear visual trends. It supports strategic decisions by highlighting product performance, market trends, and regional contributions in a dynamic retail environment.</a:t>
            </a:r>
            <a:endParaRPr lang="en-US" sz="1750" dirty="0">
              <a:latin typeface="Segoe UI Black" panose="020B0A02040204020203" pitchFamily="34" charset="0"/>
              <a:ea typeface="Segoe UI Black" panose="020B0A02040204020203" pitchFamily="34" charset="0"/>
            </a:endParaRPr>
          </a:p>
        </p:txBody>
      </p:sp>
      <p:sp>
        <p:nvSpPr>
          <p:cNvPr id="5" name="Text 2"/>
          <p:cNvSpPr/>
          <p:nvPr/>
        </p:nvSpPr>
        <p:spPr>
          <a:xfrm>
            <a:off x="793790" y="4880692"/>
            <a:ext cx="7556421" cy="362903"/>
          </a:xfrm>
          <a:prstGeom prst="rect">
            <a:avLst/>
          </a:prstGeom>
          <a:noFill/>
          <a:ln/>
        </p:spPr>
        <p:txBody>
          <a:bodyPr wrap="none" lIns="0" tIns="0" rIns="0" bIns="0" rtlCol="0" anchor="t"/>
          <a:lstStyle/>
          <a:p>
            <a:pPr marL="0" indent="0" algn="l">
              <a:lnSpc>
                <a:spcPts val="2850"/>
              </a:lnSpc>
              <a:buNone/>
            </a:pPr>
            <a:endParaRPr lang="en-US" sz="1750" dirty="0">
              <a:latin typeface="Segoe UI Black" panose="020B0A02040204020203" pitchFamily="34" charset="0"/>
              <a:ea typeface="Segoe UI Black" panose="020B0A02040204020203" pitchFamily="34" charset="0"/>
            </a:endParaRPr>
          </a:p>
        </p:txBody>
      </p:sp>
      <p:sp>
        <p:nvSpPr>
          <p:cNvPr id="6" name="Text 3"/>
          <p:cNvSpPr/>
          <p:nvPr/>
        </p:nvSpPr>
        <p:spPr>
          <a:xfrm>
            <a:off x="793790" y="5498745"/>
            <a:ext cx="7556421" cy="362903"/>
          </a:xfrm>
          <a:prstGeom prst="rect">
            <a:avLst/>
          </a:prstGeom>
          <a:noFill/>
          <a:ln/>
        </p:spPr>
        <p:txBody>
          <a:bodyPr wrap="none" lIns="0" tIns="0" rIns="0" bIns="0" rtlCol="0" anchor="t"/>
          <a:lstStyle/>
          <a:p>
            <a:pPr marL="0" indent="0" algn="l">
              <a:lnSpc>
                <a:spcPts val="2850"/>
              </a:lnSpc>
              <a:buNone/>
            </a:pPr>
            <a:endParaRPr lang="en-US" sz="1750" dirty="0">
              <a:latin typeface="Segoe UI Black" panose="020B0A02040204020203" pitchFamily="34" charset="0"/>
              <a:ea typeface="Segoe UI Black" panose="020B0A02040204020203" pitchFamily="34" charset="0"/>
            </a:endParaRPr>
          </a:p>
        </p:txBody>
      </p:sp>
      <p:sp>
        <p:nvSpPr>
          <p:cNvPr id="7" name="Text 4"/>
          <p:cNvSpPr/>
          <p:nvPr/>
        </p:nvSpPr>
        <p:spPr>
          <a:xfrm>
            <a:off x="793790" y="6116799"/>
            <a:ext cx="7556421" cy="362903"/>
          </a:xfrm>
          <a:prstGeom prst="rect">
            <a:avLst/>
          </a:prstGeom>
          <a:noFill/>
          <a:ln/>
        </p:spPr>
        <p:txBody>
          <a:bodyPr wrap="none" lIns="0" tIns="0" rIns="0" bIns="0" rtlCol="0" anchor="t"/>
          <a:lstStyle/>
          <a:p>
            <a:pPr marL="0" indent="0" algn="l">
              <a:lnSpc>
                <a:spcPts val="2850"/>
              </a:lnSpc>
              <a:buNone/>
            </a:pPr>
            <a:endParaRPr lang="en-US" sz="1750" dirty="0">
              <a:latin typeface="Segoe UI Black" panose="020B0A02040204020203" pitchFamily="34" charset="0"/>
              <a:ea typeface="Segoe UI Black" panose="020B0A02040204020203" pitchFamily="34" charset="0"/>
            </a:endParaRPr>
          </a:p>
        </p:txBody>
      </p:sp>
      <p:sp>
        <p:nvSpPr>
          <p:cNvPr id="8" name="Shape 5"/>
          <p:cNvSpPr/>
          <p:nvPr/>
        </p:nvSpPr>
        <p:spPr>
          <a:xfrm>
            <a:off x="793790" y="6751759"/>
            <a:ext cx="362903" cy="362903"/>
          </a:xfrm>
          <a:prstGeom prst="roundRect">
            <a:avLst>
              <a:gd name="adj" fmla="val 25194296"/>
            </a:avLst>
          </a:prstGeom>
          <a:noFill/>
          <a:ln w="7620">
            <a:solidFill>
              <a:srgbClr val="4D4D51"/>
            </a:solidFill>
            <a:prstDash val="solid"/>
          </a:ln>
        </p:spPr>
      </p:sp>
      <p:pic>
        <p:nvPicPr>
          <p:cNvPr id="9" name="Image 1" descr="preencoded.png"/>
          <p:cNvPicPr>
            <a:picLocks noChangeAspect="1"/>
          </p:cNvPicPr>
          <p:nvPr/>
        </p:nvPicPr>
        <p:blipFill>
          <a:blip r:embed="rId6"/>
          <a:stretch>
            <a:fillRect/>
          </a:stretch>
        </p:blipFill>
        <p:spPr>
          <a:xfrm>
            <a:off x="801410" y="6759379"/>
            <a:ext cx="347663" cy="347663"/>
          </a:xfrm>
          <a:prstGeom prst="rect">
            <a:avLst/>
          </a:prstGeom>
        </p:spPr>
      </p:pic>
      <p:sp>
        <p:nvSpPr>
          <p:cNvPr id="10" name="Text 6"/>
          <p:cNvSpPr/>
          <p:nvPr/>
        </p:nvSpPr>
        <p:spPr>
          <a:xfrm>
            <a:off x="1270040" y="6734852"/>
            <a:ext cx="2830354" cy="396835"/>
          </a:xfrm>
          <a:prstGeom prst="rect">
            <a:avLst/>
          </a:prstGeom>
          <a:noFill/>
          <a:ln/>
        </p:spPr>
        <p:txBody>
          <a:bodyPr wrap="none" lIns="0" tIns="0" rIns="0" bIns="0" rtlCol="0" anchor="t"/>
          <a:lstStyle/>
          <a:p>
            <a:pPr marL="0" indent="0" algn="l">
              <a:lnSpc>
                <a:spcPts val="3100"/>
              </a:lnSpc>
              <a:buNone/>
            </a:pPr>
            <a:r>
              <a:rPr lang="en-US" sz="2200" b="1" dirty="0">
                <a:solidFill>
                  <a:srgbClr val="CFD0D8"/>
                </a:solidFill>
                <a:latin typeface="Segoe UI Black" panose="020B0A02040204020203" pitchFamily="34" charset="0"/>
                <a:ea typeface="Segoe UI Black" panose="020B0A02040204020203" pitchFamily="34" charset="0"/>
                <a:cs typeface="Instrument Sans Bold" pitchFamily="34" charset="-120"/>
              </a:rPr>
              <a:t>by Samyak Lavhande</a:t>
            </a:r>
            <a:endParaRPr lang="en-US" sz="2200" dirty="0">
              <a:latin typeface="Segoe UI Black" panose="020B0A02040204020203" pitchFamily="34" charset="0"/>
              <a:ea typeface="Segoe UI Black" panose="020B0A020402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39735" y="918448"/>
            <a:ext cx="5994916" cy="660440"/>
          </a:xfrm>
          <a:prstGeom prst="rect">
            <a:avLst/>
          </a:prstGeom>
          <a:noFill/>
          <a:ln/>
        </p:spPr>
        <p:txBody>
          <a:bodyPr wrap="none" lIns="0" tIns="0" rIns="0" bIns="0" rtlCol="0" anchor="t"/>
          <a:lstStyle/>
          <a:p>
            <a:pPr marL="0" indent="0" algn="l">
              <a:lnSpc>
                <a:spcPts val="5200"/>
              </a:lnSpc>
              <a:buNone/>
            </a:pPr>
            <a:r>
              <a:rPr lang="en-US" sz="4150" dirty="0">
                <a:solidFill>
                  <a:srgbClr val="CBCCCE"/>
                </a:solidFill>
                <a:latin typeface="Segoe UI Black" panose="020B0A02040204020203" pitchFamily="34" charset="0"/>
                <a:ea typeface="Segoe UI Black" panose="020B0A02040204020203" pitchFamily="34" charset="0"/>
                <a:cs typeface="Instrument Sans Semi Bold" pitchFamily="34" charset="-120"/>
              </a:rPr>
              <a:t>Key </a:t>
            </a:r>
            <a:r>
              <a:rPr lang="en-US" sz="3600" dirty="0">
                <a:solidFill>
                  <a:srgbClr val="CBCCCE"/>
                </a:solidFill>
                <a:latin typeface="Segoe UI Black" panose="020B0A02040204020203" pitchFamily="34" charset="0"/>
                <a:ea typeface="Segoe UI Black" panose="020B0A02040204020203" pitchFamily="34" charset="0"/>
                <a:cs typeface="Instrument Sans Semi Bold" pitchFamily="34" charset="-120"/>
              </a:rPr>
              <a:t>Business</a:t>
            </a:r>
            <a:r>
              <a:rPr lang="en-US" sz="4150" dirty="0">
                <a:solidFill>
                  <a:srgbClr val="CBCCCE"/>
                </a:solidFill>
                <a:latin typeface="Segoe UI Black" panose="020B0A02040204020203" pitchFamily="34" charset="0"/>
                <a:ea typeface="Segoe UI Black" panose="020B0A02040204020203" pitchFamily="34" charset="0"/>
                <a:cs typeface="Instrument Sans Semi Bold" pitchFamily="34" charset="-120"/>
              </a:rPr>
              <a:t> Objectives</a:t>
            </a:r>
            <a:endParaRPr lang="en-US" sz="4150" dirty="0">
              <a:latin typeface="Segoe UI Black" panose="020B0A02040204020203" pitchFamily="34" charset="0"/>
              <a:ea typeface="Segoe UI Black" panose="020B0A02040204020203" pitchFamily="34" charset="0"/>
            </a:endParaRPr>
          </a:p>
        </p:txBody>
      </p:sp>
      <p:sp>
        <p:nvSpPr>
          <p:cNvPr id="4" name="Shape 1"/>
          <p:cNvSpPr/>
          <p:nvPr/>
        </p:nvSpPr>
        <p:spPr>
          <a:xfrm>
            <a:off x="739735" y="1895832"/>
            <a:ext cx="475536" cy="475536"/>
          </a:xfrm>
          <a:prstGeom prst="roundRect">
            <a:avLst>
              <a:gd name="adj" fmla="val 18668"/>
            </a:avLst>
          </a:prstGeom>
          <a:solidFill>
            <a:srgbClr val="3D3D42"/>
          </a:solidFill>
          <a:ln w="7620">
            <a:solidFill>
              <a:srgbClr val="56565B"/>
            </a:solidFill>
            <a:prstDash val="solid"/>
          </a:ln>
        </p:spPr>
      </p:sp>
      <p:pic>
        <p:nvPicPr>
          <p:cNvPr id="5" name="Image 1" descr="preencoded.png"/>
          <p:cNvPicPr>
            <a:picLocks noChangeAspect="1"/>
          </p:cNvPicPr>
          <p:nvPr/>
        </p:nvPicPr>
        <p:blipFill>
          <a:blip r:embed="rId4"/>
          <a:stretch>
            <a:fillRect/>
          </a:stretch>
        </p:blipFill>
        <p:spPr>
          <a:xfrm>
            <a:off x="819031" y="1935480"/>
            <a:ext cx="316944" cy="396240"/>
          </a:xfrm>
          <a:prstGeom prst="rect">
            <a:avLst/>
          </a:prstGeom>
        </p:spPr>
      </p:pic>
      <p:sp>
        <p:nvSpPr>
          <p:cNvPr id="6" name="Text 2"/>
          <p:cNvSpPr/>
          <p:nvPr/>
        </p:nvSpPr>
        <p:spPr>
          <a:xfrm>
            <a:off x="1426607" y="1968460"/>
            <a:ext cx="4314111" cy="330160"/>
          </a:xfrm>
          <a:prstGeom prst="rect">
            <a:avLst/>
          </a:prstGeom>
          <a:noFill/>
          <a:ln/>
        </p:spPr>
        <p:txBody>
          <a:bodyPr wrap="none" lIns="0" tIns="0" rIns="0" bIns="0" rtlCol="0" anchor="t"/>
          <a:lstStyle/>
          <a:p>
            <a:pPr marL="0" indent="0" algn="l">
              <a:lnSpc>
                <a:spcPts val="2600"/>
              </a:lnSpc>
              <a:buNone/>
            </a:pPr>
            <a:r>
              <a:rPr lang="en-US" sz="2050" dirty="0">
                <a:solidFill>
                  <a:srgbClr val="CFD0D8"/>
                </a:solidFill>
                <a:latin typeface="Segoe UI Black" panose="020B0A02040204020203" pitchFamily="34" charset="0"/>
                <a:ea typeface="Segoe UI Black" panose="020B0A02040204020203" pitchFamily="34" charset="0"/>
                <a:cs typeface="Instrument Sans Semi Bold" pitchFamily="34" charset="-120"/>
              </a:rPr>
              <a:t>Monitor Overall Sales Performance</a:t>
            </a:r>
            <a:endParaRPr lang="en-US" sz="2050" dirty="0">
              <a:latin typeface="Segoe UI Black" panose="020B0A02040204020203" pitchFamily="34" charset="0"/>
              <a:ea typeface="Segoe UI Black" panose="020B0A02040204020203" pitchFamily="34" charset="0"/>
            </a:endParaRPr>
          </a:p>
        </p:txBody>
      </p:sp>
      <p:sp>
        <p:nvSpPr>
          <p:cNvPr id="7" name="Text 3"/>
          <p:cNvSpPr/>
          <p:nvPr/>
        </p:nvSpPr>
        <p:spPr>
          <a:xfrm>
            <a:off x="1426607" y="2425422"/>
            <a:ext cx="6977658" cy="676275"/>
          </a:xfrm>
          <a:prstGeom prst="rect">
            <a:avLst/>
          </a:prstGeom>
          <a:noFill/>
          <a:ln/>
        </p:spPr>
        <p:txBody>
          <a:bodyPr wrap="square" lIns="0" tIns="0" rIns="0" bIns="0" rtlCol="0" anchor="t"/>
          <a:lstStyle/>
          <a:p>
            <a:pPr marL="0" indent="0" algn="l">
              <a:lnSpc>
                <a:spcPts val="2650"/>
              </a:lnSpc>
              <a:buNone/>
            </a:pPr>
            <a:r>
              <a:rPr lang="en-US" sz="1650" dirty="0">
                <a:solidFill>
                  <a:srgbClr val="CFD0D8"/>
                </a:solidFill>
                <a:latin typeface="Segoe UI Black" panose="020B0A02040204020203" pitchFamily="34" charset="0"/>
                <a:ea typeface="Segoe UI Black" panose="020B0A02040204020203" pitchFamily="34" charset="0"/>
                <a:cs typeface="Instrument Sans Medium" pitchFamily="34" charset="-120"/>
              </a:rPr>
              <a:t>Provide a clear view of key sales metrics like total sales, profit, and average margin.</a:t>
            </a:r>
            <a:endParaRPr lang="en-US" sz="1650" dirty="0">
              <a:latin typeface="Segoe UI Black" panose="020B0A02040204020203" pitchFamily="34" charset="0"/>
              <a:ea typeface="Segoe UI Black" panose="020B0A02040204020203" pitchFamily="34" charset="0"/>
            </a:endParaRPr>
          </a:p>
        </p:txBody>
      </p:sp>
      <p:sp>
        <p:nvSpPr>
          <p:cNvPr id="8" name="Shape 4"/>
          <p:cNvSpPr/>
          <p:nvPr/>
        </p:nvSpPr>
        <p:spPr>
          <a:xfrm>
            <a:off x="739735" y="3524369"/>
            <a:ext cx="475536" cy="475536"/>
          </a:xfrm>
          <a:prstGeom prst="roundRect">
            <a:avLst>
              <a:gd name="adj" fmla="val 18668"/>
            </a:avLst>
          </a:prstGeom>
          <a:solidFill>
            <a:srgbClr val="3D3D42"/>
          </a:solidFill>
          <a:ln w="7620">
            <a:solidFill>
              <a:srgbClr val="56565B"/>
            </a:solidFill>
            <a:prstDash val="solid"/>
          </a:ln>
        </p:spPr>
      </p:sp>
      <p:pic>
        <p:nvPicPr>
          <p:cNvPr id="9" name="Image 2" descr="preencoded.png"/>
          <p:cNvPicPr>
            <a:picLocks noChangeAspect="1"/>
          </p:cNvPicPr>
          <p:nvPr/>
        </p:nvPicPr>
        <p:blipFill>
          <a:blip r:embed="rId5"/>
          <a:stretch>
            <a:fillRect/>
          </a:stretch>
        </p:blipFill>
        <p:spPr>
          <a:xfrm>
            <a:off x="819031" y="3564017"/>
            <a:ext cx="316944" cy="396240"/>
          </a:xfrm>
          <a:prstGeom prst="rect">
            <a:avLst/>
          </a:prstGeom>
        </p:spPr>
      </p:pic>
      <p:sp>
        <p:nvSpPr>
          <p:cNvPr id="10" name="Text 5"/>
          <p:cNvSpPr/>
          <p:nvPr/>
        </p:nvSpPr>
        <p:spPr>
          <a:xfrm>
            <a:off x="1426607" y="3596997"/>
            <a:ext cx="3092648" cy="330160"/>
          </a:xfrm>
          <a:prstGeom prst="rect">
            <a:avLst/>
          </a:prstGeom>
          <a:noFill/>
          <a:ln/>
        </p:spPr>
        <p:txBody>
          <a:bodyPr wrap="none" lIns="0" tIns="0" rIns="0" bIns="0" rtlCol="0" anchor="t"/>
          <a:lstStyle/>
          <a:p>
            <a:pPr marL="0" indent="0" algn="l">
              <a:lnSpc>
                <a:spcPts val="2600"/>
              </a:lnSpc>
              <a:buNone/>
            </a:pPr>
            <a:r>
              <a:rPr lang="en-US" sz="2050" dirty="0">
                <a:solidFill>
                  <a:srgbClr val="CFD0D8"/>
                </a:solidFill>
                <a:latin typeface="Segoe UI Black" panose="020B0A02040204020203" pitchFamily="34" charset="0"/>
                <a:ea typeface="Segoe UI Black" panose="020B0A02040204020203" pitchFamily="34" charset="0"/>
                <a:cs typeface="Instrument Sans Semi Bold" pitchFamily="34" charset="-120"/>
              </a:rPr>
              <a:t>Track Store Performance</a:t>
            </a:r>
            <a:endParaRPr lang="en-US" sz="2050" dirty="0">
              <a:latin typeface="Segoe UI Black" panose="020B0A02040204020203" pitchFamily="34" charset="0"/>
              <a:ea typeface="Segoe UI Black" panose="020B0A02040204020203" pitchFamily="34" charset="0"/>
            </a:endParaRPr>
          </a:p>
        </p:txBody>
      </p:sp>
      <p:sp>
        <p:nvSpPr>
          <p:cNvPr id="11" name="Text 6"/>
          <p:cNvSpPr/>
          <p:nvPr/>
        </p:nvSpPr>
        <p:spPr>
          <a:xfrm>
            <a:off x="1426607" y="4053959"/>
            <a:ext cx="6977658" cy="676275"/>
          </a:xfrm>
          <a:prstGeom prst="rect">
            <a:avLst/>
          </a:prstGeom>
          <a:noFill/>
          <a:ln/>
        </p:spPr>
        <p:txBody>
          <a:bodyPr wrap="square" lIns="0" tIns="0" rIns="0" bIns="0" rtlCol="0" anchor="t"/>
          <a:lstStyle/>
          <a:p>
            <a:pPr marL="0" indent="0" algn="l">
              <a:lnSpc>
                <a:spcPts val="2650"/>
              </a:lnSpc>
              <a:buNone/>
            </a:pPr>
            <a:r>
              <a:rPr lang="en-US" sz="1650" dirty="0">
                <a:solidFill>
                  <a:srgbClr val="CFD0D8"/>
                </a:solidFill>
                <a:latin typeface="Segoe UI Black" panose="020B0A02040204020203" pitchFamily="34" charset="0"/>
                <a:ea typeface="Segoe UI Black" panose="020B0A02040204020203" pitchFamily="34" charset="0"/>
                <a:cs typeface="Instrument Sans Medium" pitchFamily="34" charset="-120"/>
              </a:rPr>
              <a:t>Analyze sales and profitability across different store locations and types (owned vs. rented).</a:t>
            </a:r>
            <a:endParaRPr lang="en-US" sz="1650" dirty="0">
              <a:latin typeface="Segoe UI Black" panose="020B0A02040204020203" pitchFamily="34" charset="0"/>
              <a:ea typeface="Segoe UI Black" panose="020B0A02040204020203" pitchFamily="34" charset="0"/>
            </a:endParaRPr>
          </a:p>
        </p:txBody>
      </p:sp>
      <p:sp>
        <p:nvSpPr>
          <p:cNvPr id="12" name="Shape 7"/>
          <p:cNvSpPr/>
          <p:nvPr/>
        </p:nvSpPr>
        <p:spPr>
          <a:xfrm>
            <a:off x="739735" y="5152906"/>
            <a:ext cx="475536" cy="475536"/>
          </a:xfrm>
          <a:prstGeom prst="roundRect">
            <a:avLst>
              <a:gd name="adj" fmla="val 18668"/>
            </a:avLst>
          </a:prstGeom>
          <a:solidFill>
            <a:srgbClr val="3D3D42"/>
          </a:solidFill>
          <a:ln w="7620">
            <a:solidFill>
              <a:srgbClr val="56565B"/>
            </a:solidFill>
            <a:prstDash val="solid"/>
          </a:ln>
        </p:spPr>
      </p:sp>
      <p:pic>
        <p:nvPicPr>
          <p:cNvPr id="13" name="Image 3" descr="preencoded.png"/>
          <p:cNvPicPr>
            <a:picLocks noChangeAspect="1"/>
          </p:cNvPicPr>
          <p:nvPr/>
        </p:nvPicPr>
        <p:blipFill>
          <a:blip r:embed="rId6"/>
          <a:stretch>
            <a:fillRect/>
          </a:stretch>
        </p:blipFill>
        <p:spPr>
          <a:xfrm>
            <a:off x="819031" y="5192554"/>
            <a:ext cx="316944" cy="396240"/>
          </a:xfrm>
          <a:prstGeom prst="rect">
            <a:avLst/>
          </a:prstGeom>
        </p:spPr>
      </p:pic>
      <p:sp>
        <p:nvSpPr>
          <p:cNvPr id="14" name="Text 8"/>
          <p:cNvSpPr/>
          <p:nvPr/>
        </p:nvSpPr>
        <p:spPr>
          <a:xfrm>
            <a:off x="1426607" y="5225534"/>
            <a:ext cx="4214217" cy="330160"/>
          </a:xfrm>
          <a:prstGeom prst="rect">
            <a:avLst/>
          </a:prstGeom>
          <a:noFill/>
          <a:ln/>
        </p:spPr>
        <p:txBody>
          <a:bodyPr wrap="none" lIns="0" tIns="0" rIns="0" bIns="0" rtlCol="0" anchor="t"/>
          <a:lstStyle/>
          <a:p>
            <a:pPr marL="0" indent="0" algn="l">
              <a:lnSpc>
                <a:spcPts val="2600"/>
              </a:lnSpc>
              <a:buNone/>
            </a:pPr>
            <a:r>
              <a:rPr lang="en-US" sz="2050" dirty="0">
                <a:solidFill>
                  <a:srgbClr val="CFD0D8"/>
                </a:solidFill>
                <a:latin typeface="Segoe UI Black" panose="020B0A02040204020203" pitchFamily="34" charset="0"/>
                <a:ea typeface="Segoe UI Black" panose="020B0A02040204020203" pitchFamily="34" charset="0"/>
                <a:cs typeface="Instrument Sans Semi Bold" pitchFamily="34" charset="-120"/>
              </a:rPr>
              <a:t>Understand Product Performance</a:t>
            </a:r>
            <a:endParaRPr lang="en-US" sz="2050" dirty="0">
              <a:latin typeface="Segoe UI Black" panose="020B0A02040204020203" pitchFamily="34" charset="0"/>
              <a:ea typeface="Segoe UI Black" panose="020B0A02040204020203" pitchFamily="34" charset="0"/>
            </a:endParaRPr>
          </a:p>
        </p:txBody>
      </p:sp>
      <p:sp>
        <p:nvSpPr>
          <p:cNvPr id="15" name="Text 9"/>
          <p:cNvSpPr/>
          <p:nvPr/>
        </p:nvSpPr>
        <p:spPr>
          <a:xfrm>
            <a:off x="1426607" y="5682496"/>
            <a:ext cx="6977658" cy="338138"/>
          </a:xfrm>
          <a:prstGeom prst="rect">
            <a:avLst/>
          </a:prstGeom>
          <a:noFill/>
          <a:ln/>
        </p:spPr>
        <p:txBody>
          <a:bodyPr wrap="none" lIns="0" tIns="0" rIns="0" bIns="0" rtlCol="0" anchor="t"/>
          <a:lstStyle/>
          <a:p>
            <a:pPr marL="0" indent="0" algn="l">
              <a:lnSpc>
                <a:spcPts val="2650"/>
              </a:lnSpc>
              <a:buNone/>
            </a:pPr>
            <a:r>
              <a:rPr lang="en-US" sz="1650" dirty="0">
                <a:solidFill>
                  <a:srgbClr val="CFD0D8"/>
                </a:solidFill>
                <a:latin typeface="Segoe UI Black" panose="020B0A02040204020203" pitchFamily="34" charset="0"/>
                <a:ea typeface="Segoe UI Black" panose="020B0A02040204020203" pitchFamily="34" charset="0"/>
                <a:cs typeface="Instrument Sans Medium" pitchFamily="34" charset="-120"/>
              </a:rPr>
              <a:t>Identify best-selling clothing types and categories (Men, Women, Kids).</a:t>
            </a:r>
            <a:endParaRPr lang="en-US" sz="1650" dirty="0">
              <a:latin typeface="Segoe UI Black" panose="020B0A02040204020203" pitchFamily="34" charset="0"/>
              <a:ea typeface="Segoe UI Black" panose="020B0A02040204020203" pitchFamily="34" charset="0"/>
            </a:endParaRPr>
          </a:p>
        </p:txBody>
      </p:sp>
      <p:sp>
        <p:nvSpPr>
          <p:cNvPr id="16" name="Shape 10"/>
          <p:cNvSpPr/>
          <p:nvPr/>
        </p:nvSpPr>
        <p:spPr>
          <a:xfrm>
            <a:off x="739735" y="6443305"/>
            <a:ext cx="475536" cy="475536"/>
          </a:xfrm>
          <a:prstGeom prst="roundRect">
            <a:avLst>
              <a:gd name="adj" fmla="val 18668"/>
            </a:avLst>
          </a:prstGeom>
          <a:solidFill>
            <a:srgbClr val="3D3D42"/>
          </a:solidFill>
          <a:ln w="7620">
            <a:solidFill>
              <a:srgbClr val="56565B"/>
            </a:solidFill>
            <a:prstDash val="solid"/>
          </a:ln>
        </p:spPr>
      </p:sp>
      <p:pic>
        <p:nvPicPr>
          <p:cNvPr id="17" name="Image 4" descr="preencoded.png"/>
          <p:cNvPicPr>
            <a:picLocks noChangeAspect="1"/>
          </p:cNvPicPr>
          <p:nvPr/>
        </p:nvPicPr>
        <p:blipFill>
          <a:blip r:embed="rId7"/>
          <a:stretch>
            <a:fillRect/>
          </a:stretch>
        </p:blipFill>
        <p:spPr>
          <a:xfrm>
            <a:off x="819031" y="6482953"/>
            <a:ext cx="316944" cy="396240"/>
          </a:xfrm>
          <a:prstGeom prst="rect">
            <a:avLst/>
          </a:prstGeom>
        </p:spPr>
      </p:pic>
      <p:sp>
        <p:nvSpPr>
          <p:cNvPr id="18" name="Text 11"/>
          <p:cNvSpPr/>
          <p:nvPr/>
        </p:nvSpPr>
        <p:spPr>
          <a:xfrm>
            <a:off x="1426607" y="6515933"/>
            <a:ext cx="3804642" cy="330160"/>
          </a:xfrm>
          <a:prstGeom prst="rect">
            <a:avLst/>
          </a:prstGeom>
          <a:noFill/>
          <a:ln/>
        </p:spPr>
        <p:txBody>
          <a:bodyPr wrap="none" lIns="0" tIns="0" rIns="0" bIns="0" rtlCol="0" anchor="t"/>
          <a:lstStyle/>
          <a:p>
            <a:pPr marL="0" indent="0" algn="l">
              <a:lnSpc>
                <a:spcPts val="2600"/>
              </a:lnSpc>
              <a:buNone/>
            </a:pPr>
            <a:r>
              <a:rPr lang="en-US" sz="2050" dirty="0">
                <a:solidFill>
                  <a:srgbClr val="CFD0D8"/>
                </a:solidFill>
                <a:latin typeface="Segoe UI Black" panose="020B0A02040204020203" pitchFamily="34" charset="0"/>
                <a:ea typeface="Segoe UI Black" panose="020B0A02040204020203" pitchFamily="34" charset="0"/>
                <a:cs typeface="Instrument Sans Semi Bold" pitchFamily="34" charset="-120"/>
              </a:rPr>
              <a:t>Analyze Regional Performance</a:t>
            </a:r>
            <a:endParaRPr lang="en-US" sz="2050" dirty="0">
              <a:latin typeface="Segoe UI Black" panose="020B0A02040204020203" pitchFamily="34" charset="0"/>
              <a:ea typeface="Segoe UI Black" panose="020B0A02040204020203" pitchFamily="34" charset="0"/>
            </a:endParaRPr>
          </a:p>
        </p:txBody>
      </p:sp>
      <p:sp>
        <p:nvSpPr>
          <p:cNvPr id="19" name="Text 12"/>
          <p:cNvSpPr/>
          <p:nvPr/>
        </p:nvSpPr>
        <p:spPr>
          <a:xfrm>
            <a:off x="1426607" y="6972895"/>
            <a:ext cx="6977658" cy="338138"/>
          </a:xfrm>
          <a:prstGeom prst="rect">
            <a:avLst/>
          </a:prstGeom>
          <a:noFill/>
          <a:ln/>
        </p:spPr>
        <p:txBody>
          <a:bodyPr wrap="none" lIns="0" tIns="0" rIns="0" bIns="0" rtlCol="0" anchor="t"/>
          <a:lstStyle/>
          <a:p>
            <a:pPr marL="0" indent="0" algn="l">
              <a:lnSpc>
                <a:spcPts val="2650"/>
              </a:lnSpc>
              <a:buNone/>
            </a:pPr>
            <a:r>
              <a:rPr lang="en-US" sz="1650" dirty="0">
                <a:solidFill>
                  <a:srgbClr val="CFD0D8"/>
                </a:solidFill>
                <a:latin typeface="Segoe UI Black" panose="020B0A02040204020203" pitchFamily="34" charset="0"/>
                <a:ea typeface="Segoe UI Black" panose="020B0A02040204020203" pitchFamily="34" charset="0"/>
                <a:cs typeface="Instrument Sans Medium" pitchFamily="34" charset="-120"/>
              </a:rPr>
              <a:t>Evaluate sales and profit contributions from different states and cities.</a:t>
            </a:r>
            <a:endParaRPr lang="en-US" sz="1650" dirty="0">
              <a:latin typeface="Segoe UI Black" panose="020B0A02040204020203" pitchFamily="34" charset="0"/>
              <a:ea typeface="Segoe UI Black" panose="020B0A02040204020203"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715107"/>
            <a:ext cx="9122688" cy="708779"/>
          </a:xfrm>
          <a:prstGeom prst="rect">
            <a:avLst/>
          </a:prstGeom>
          <a:noFill/>
          <a:ln/>
        </p:spPr>
        <p:txBody>
          <a:bodyPr wrap="none" lIns="0" tIns="0" rIns="0" bIns="0" rtlCol="0" anchor="t"/>
          <a:lstStyle/>
          <a:p>
            <a:pPr marL="0" indent="0" algn="l">
              <a:lnSpc>
                <a:spcPts val="5550"/>
              </a:lnSpc>
              <a:buNone/>
            </a:pPr>
            <a:r>
              <a:rPr lang="en-US" sz="3600" dirty="0">
                <a:solidFill>
                  <a:srgbClr val="CBCCCE"/>
                </a:solidFill>
                <a:latin typeface="Segoe UI Black" panose="020B0A02040204020203" pitchFamily="34" charset="0"/>
                <a:ea typeface="Segoe UI Black" panose="020B0A02040204020203" pitchFamily="34" charset="0"/>
                <a:cs typeface="Instrument Sans Semi Bold" pitchFamily="34" charset="-120"/>
              </a:rPr>
              <a:t>Dashboard</a:t>
            </a:r>
            <a:r>
              <a:rPr lang="en-US" sz="4450" dirty="0">
                <a:solidFill>
                  <a:srgbClr val="CBCCCE"/>
                </a:solidFill>
                <a:latin typeface="Segoe UI Black" panose="020B0A02040204020203" pitchFamily="34" charset="0"/>
                <a:ea typeface="Segoe UI Black" panose="020B0A02040204020203" pitchFamily="34" charset="0"/>
                <a:cs typeface="Instrument Sans Semi Bold" pitchFamily="34" charset="-120"/>
              </a:rPr>
              <a:t> Overview and Features</a:t>
            </a:r>
            <a:endParaRPr lang="en-US" sz="4450" dirty="0">
              <a:latin typeface="Segoe UI Black" panose="020B0A02040204020203" pitchFamily="34" charset="0"/>
              <a:ea typeface="Segoe UI Black" panose="020B0A02040204020203" pitchFamily="34" charset="0"/>
            </a:endParaRPr>
          </a:p>
        </p:txBody>
      </p:sp>
      <p:sp>
        <p:nvSpPr>
          <p:cNvPr id="4" name="Text 1"/>
          <p:cNvSpPr/>
          <p:nvPr/>
        </p:nvSpPr>
        <p:spPr>
          <a:xfrm>
            <a:off x="793790" y="4968121"/>
            <a:ext cx="6244709" cy="2177415"/>
          </a:xfrm>
          <a:prstGeom prst="rect">
            <a:avLst/>
          </a:prstGeom>
          <a:noFill/>
          <a:ln/>
        </p:spPr>
        <p:txBody>
          <a:bodyPr wrap="square" lIns="0" tIns="0" rIns="0" bIns="0" rtlCol="0" anchor="t"/>
          <a:lstStyle/>
          <a:p>
            <a:pPr marL="0" indent="0" algn="l">
              <a:lnSpc>
                <a:spcPts val="2850"/>
              </a:lnSpc>
              <a:buNone/>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The "Zudio Sales in 2024" dashboard is a sophisticated Power BI solution with a user-friendly, dark-themed interface for optimal visual clarity. It integrates various data visualizations, including bar charts, donut charts, line charts, and a geographical map, to present a multi-faceted view of Zudio's sales landscape.</a:t>
            </a:r>
            <a:endParaRPr lang="en-US" sz="1750" dirty="0">
              <a:latin typeface="Segoe UI Black" panose="020B0A02040204020203" pitchFamily="34" charset="0"/>
              <a:ea typeface="Segoe UI Black" panose="020B0A02040204020203" pitchFamily="34" charset="0"/>
            </a:endParaRPr>
          </a:p>
        </p:txBody>
      </p:sp>
      <p:sp>
        <p:nvSpPr>
          <p:cNvPr id="5" name="Text 2"/>
          <p:cNvSpPr/>
          <p:nvPr/>
        </p:nvSpPr>
        <p:spPr>
          <a:xfrm>
            <a:off x="7599521" y="4968121"/>
            <a:ext cx="6244709" cy="2177415"/>
          </a:xfrm>
          <a:prstGeom prst="rect">
            <a:avLst/>
          </a:prstGeom>
          <a:noFill/>
          <a:ln/>
        </p:spPr>
        <p:txBody>
          <a:bodyPr wrap="square" lIns="0" tIns="0" rIns="0" bIns="0" rtlCol="0" anchor="t"/>
          <a:lstStyle/>
          <a:p>
            <a:pPr marL="0" indent="0" algn="l">
              <a:lnSpc>
                <a:spcPts val="2850"/>
              </a:lnSpc>
              <a:buNone/>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The dashboard is highly interactive, allowing users to apply filters for specific clothing types and cities, dynamically updating all related visuals to provide granular insights. The core of the dashboard revolves around answering critical business questions related to "What," "Where," and "When" of Zudio's sales and profitability.</a:t>
            </a:r>
            <a:endParaRPr lang="en-US" sz="1750" dirty="0">
              <a:latin typeface="Segoe UI Black" panose="020B0A02040204020203" pitchFamily="34" charset="0"/>
              <a:ea typeface="Segoe UI Black" panose="020B0A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2934"/>
          </a:xfrm>
          <a:prstGeom prst="rect">
            <a:avLst/>
          </a:prstGeom>
        </p:spPr>
      </p:pic>
      <p:sp>
        <p:nvSpPr>
          <p:cNvPr id="3" name="Text 0"/>
          <p:cNvSpPr/>
          <p:nvPr/>
        </p:nvSpPr>
        <p:spPr>
          <a:xfrm>
            <a:off x="6263640" y="610672"/>
            <a:ext cx="7589520" cy="1387793"/>
          </a:xfrm>
          <a:prstGeom prst="rect">
            <a:avLst/>
          </a:prstGeom>
          <a:noFill/>
          <a:ln/>
        </p:spPr>
        <p:txBody>
          <a:bodyPr wrap="square" lIns="0" tIns="0" rIns="0" bIns="0" rtlCol="0" anchor="t"/>
          <a:lstStyle/>
          <a:p>
            <a:pPr marL="0" indent="0" algn="l">
              <a:lnSpc>
                <a:spcPts val="5450"/>
              </a:lnSpc>
              <a:buNone/>
            </a:pPr>
            <a:r>
              <a:rPr lang="en-US" sz="4350" dirty="0">
                <a:solidFill>
                  <a:srgbClr val="CBCCCE"/>
                </a:solidFill>
                <a:latin typeface="Segoe UI Black" panose="020B0A02040204020203" pitchFamily="34" charset="0"/>
                <a:ea typeface="Segoe UI Black" panose="020B0A02040204020203" pitchFamily="34" charset="0"/>
                <a:cs typeface="Instrument Sans Semi Bold" pitchFamily="34" charset="-120"/>
              </a:rPr>
              <a:t>Key Performance Indicators (</a:t>
            </a:r>
            <a:r>
              <a:rPr lang="en-US" sz="3600" dirty="0">
                <a:solidFill>
                  <a:srgbClr val="CBCCCE"/>
                </a:solidFill>
                <a:latin typeface="Segoe UI Black" panose="020B0A02040204020203" pitchFamily="34" charset="0"/>
                <a:ea typeface="Segoe UI Black" panose="020B0A02040204020203" pitchFamily="34" charset="0"/>
                <a:cs typeface="Instrument Sans Semi Bold" pitchFamily="34" charset="-120"/>
              </a:rPr>
              <a:t>KPIs</a:t>
            </a:r>
            <a:r>
              <a:rPr lang="en-US" sz="4350" dirty="0">
                <a:solidFill>
                  <a:srgbClr val="CBCCCE"/>
                </a:solidFill>
                <a:latin typeface="Segoe UI Black" panose="020B0A02040204020203" pitchFamily="34" charset="0"/>
                <a:ea typeface="Segoe UI Black" panose="020B0A02040204020203" pitchFamily="34" charset="0"/>
                <a:cs typeface="Instrument Sans Semi Bold" pitchFamily="34" charset="-120"/>
              </a:rPr>
              <a:t>)</a:t>
            </a:r>
            <a:endParaRPr lang="en-US" sz="4350" dirty="0">
              <a:latin typeface="Segoe UI Black" panose="020B0A02040204020203" pitchFamily="34" charset="0"/>
              <a:ea typeface="Segoe UI Black" panose="020B0A02040204020203" pitchFamily="34" charset="0"/>
            </a:endParaRPr>
          </a:p>
        </p:txBody>
      </p:sp>
      <p:sp>
        <p:nvSpPr>
          <p:cNvPr id="4" name="Text 1"/>
          <p:cNvSpPr/>
          <p:nvPr/>
        </p:nvSpPr>
        <p:spPr>
          <a:xfrm>
            <a:off x="6263640" y="2442567"/>
            <a:ext cx="3628192" cy="732830"/>
          </a:xfrm>
          <a:prstGeom prst="rect">
            <a:avLst/>
          </a:prstGeom>
          <a:noFill/>
          <a:ln/>
        </p:spPr>
        <p:txBody>
          <a:bodyPr wrap="none" lIns="0" tIns="0" rIns="0" bIns="0" rtlCol="0" anchor="t"/>
          <a:lstStyle/>
          <a:p>
            <a:pPr marL="0" indent="0" algn="ctr">
              <a:lnSpc>
                <a:spcPts val="5750"/>
              </a:lnSpc>
              <a:buNone/>
            </a:pPr>
            <a:r>
              <a:rPr lang="en-US" sz="5750" dirty="0">
                <a:solidFill>
                  <a:srgbClr val="CFD0D8"/>
                </a:solidFill>
                <a:latin typeface="Segoe UI Black" panose="020B0A02040204020203" pitchFamily="34" charset="0"/>
                <a:ea typeface="Segoe UI Black" panose="020B0A02040204020203" pitchFamily="34" charset="0"/>
                <a:cs typeface="Instrument Sans Semi Bold" pitchFamily="34" charset="-120"/>
              </a:rPr>
              <a:t>36K</a:t>
            </a:r>
            <a:endParaRPr lang="en-US" sz="5750" dirty="0">
              <a:latin typeface="Segoe UI Black" panose="020B0A02040204020203" pitchFamily="34" charset="0"/>
              <a:ea typeface="Segoe UI Black" panose="020B0A02040204020203" pitchFamily="34" charset="0"/>
            </a:endParaRPr>
          </a:p>
        </p:txBody>
      </p:sp>
      <p:sp>
        <p:nvSpPr>
          <p:cNvPr id="5" name="Text 2"/>
          <p:cNvSpPr/>
          <p:nvPr/>
        </p:nvSpPr>
        <p:spPr>
          <a:xfrm>
            <a:off x="6689646" y="3452932"/>
            <a:ext cx="2776180" cy="347067"/>
          </a:xfrm>
          <a:prstGeom prst="rect">
            <a:avLst/>
          </a:prstGeom>
          <a:noFill/>
          <a:ln/>
        </p:spPr>
        <p:txBody>
          <a:bodyPr wrap="none" lIns="0" tIns="0" rIns="0" bIns="0" rtlCol="0" anchor="t"/>
          <a:lstStyle/>
          <a:p>
            <a:pPr marL="0" indent="0" algn="ctr">
              <a:lnSpc>
                <a:spcPts val="2700"/>
              </a:lnSpc>
              <a:buNone/>
            </a:pPr>
            <a:r>
              <a:rPr lang="en-US" sz="2150" dirty="0">
                <a:solidFill>
                  <a:srgbClr val="CFD0D8"/>
                </a:solidFill>
                <a:latin typeface="Segoe UI Black" panose="020B0A02040204020203" pitchFamily="34" charset="0"/>
                <a:ea typeface="Segoe UI Black" panose="020B0A02040204020203" pitchFamily="34" charset="0"/>
                <a:cs typeface="Instrument Sans Semi Bold" pitchFamily="34" charset="-120"/>
              </a:rPr>
              <a:t>Total Sales</a:t>
            </a:r>
            <a:endParaRPr lang="en-US" sz="2150" dirty="0">
              <a:latin typeface="Segoe UI Black" panose="020B0A02040204020203" pitchFamily="34" charset="0"/>
              <a:ea typeface="Segoe UI Black" panose="020B0A02040204020203" pitchFamily="34" charset="0"/>
            </a:endParaRPr>
          </a:p>
        </p:txBody>
      </p:sp>
      <p:sp>
        <p:nvSpPr>
          <p:cNvPr id="6" name="Text 3"/>
          <p:cNvSpPr/>
          <p:nvPr/>
        </p:nvSpPr>
        <p:spPr>
          <a:xfrm>
            <a:off x="6263640" y="3933230"/>
            <a:ext cx="3628192" cy="710565"/>
          </a:xfrm>
          <a:prstGeom prst="rect">
            <a:avLst/>
          </a:prstGeom>
          <a:noFill/>
          <a:ln/>
        </p:spPr>
        <p:txBody>
          <a:bodyPr wrap="square" lIns="0" tIns="0" rIns="0" bIns="0" rtlCol="0" anchor="t"/>
          <a:lstStyle/>
          <a:p>
            <a:pPr marL="0" indent="0" algn="ctr">
              <a:lnSpc>
                <a:spcPts val="2750"/>
              </a:lnSpc>
              <a:buNone/>
            </a:pPr>
            <a:r>
              <a:rPr lang="en-US" sz="1700" dirty="0">
                <a:solidFill>
                  <a:srgbClr val="CFD0D8"/>
                </a:solidFill>
                <a:latin typeface="Segoe UI Black" panose="020B0A02040204020203" pitchFamily="34" charset="0"/>
                <a:ea typeface="Segoe UI Black" panose="020B0A02040204020203" pitchFamily="34" charset="0"/>
                <a:cs typeface="Instrument Sans Medium" pitchFamily="34" charset="-120"/>
              </a:rPr>
              <a:t>Total revenue generated from sales.</a:t>
            </a:r>
            <a:endParaRPr lang="en-US" sz="1700" dirty="0">
              <a:latin typeface="Segoe UI Black" panose="020B0A02040204020203" pitchFamily="34" charset="0"/>
              <a:ea typeface="Segoe UI Black" panose="020B0A02040204020203" pitchFamily="34" charset="0"/>
            </a:endParaRPr>
          </a:p>
        </p:txBody>
      </p:sp>
      <p:sp>
        <p:nvSpPr>
          <p:cNvPr id="7" name="Text 4"/>
          <p:cNvSpPr/>
          <p:nvPr/>
        </p:nvSpPr>
        <p:spPr>
          <a:xfrm>
            <a:off x="10224968" y="2442567"/>
            <a:ext cx="3628192" cy="732830"/>
          </a:xfrm>
          <a:prstGeom prst="rect">
            <a:avLst/>
          </a:prstGeom>
          <a:noFill/>
          <a:ln/>
        </p:spPr>
        <p:txBody>
          <a:bodyPr wrap="none" lIns="0" tIns="0" rIns="0" bIns="0" rtlCol="0" anchor="t"/>
          <a:lstStyle/>
          <a:p>
            <a:pPr marL="0" indent="0" algn="ctr">
              <a:lnSpc>
                <a:spcPts val="5750"/>
              </a:lnSpc>
              <a:buNone/>
            </a:pPr>
            <a:r>
              <a:rPr lang="en-US" sz="5750" dirty="0">
                <a:solidFill>
                  <a:srgbClr val="CFD0D8"/>
                </a:solidFill>
                <a:latin typeface="Segoe UI Black" panose="020B0A02040204020203" pitchFamily="34" charset="0"/>
                <a:ea typeface="Segoe UI Black" panose="020B0A02040204020203" pitchFamily="34" charset="0"/>
                <a:cs typeface="Instrument Sans Semi Bold" pitchFamily="34" charset="-120"/>
              </a:rPr>
              <a:t>100</a:t>
            </a:r>
            <a:endParaRPr lang="en-US" sz="5750" dirty="0">
              <a:latin typeface="Segoe UI Black" panose="020B0A02040204020203" pitchFamily="34" charset="0"/>
              <a:ea typeface="Segoe UI Black" panose="020B0A02040204020203" pitchFamily="34" charset="0"/>
            </a:endParaRPr>
          </a:p>
        </p:txBody>
      </p:sp>
      <p:sp>
        <p:nvSpPr>
          <p:cNvPr id="8" name="Text 5"/>
          <p:cNvSpPr/>
          <p:nvPr/>
        </p:nvSpPr>
        <p:spPr>
          <a:xfrm>
            <a:off x="10650974" y="3452932"/>
            <a:ext cx="2776180" cy="347067"/>
          </a:xfrm>
          <a:prstGeom prst="rect">
            <a:avLst/>
          </a:prstGeom>
          <a:noFill/>
          <a:ln/>
        </p:spPr>
        <p:txBody>
          <a:bodyPr wrap="none" lIns="0" tIns="0" rIns="0" bIns="0" rtlCol="0" anchor="t"/>
          <a:lstStyle/>
          <a:p>
            <a:pPr marL="0" indent="0" algn="ctr">
              <a:lnSpc>
                <a:spcPts val="2700"/>
              </a:lnSpc>
              <a:buNone/>
            </a:pPr>
            <a:r>
              <a:rPr lang="en-US" sz="2150" dirty="0">
                <a:solidFill>
                  <a:srgbClr val="CFD0D8"/>
                </a:solidFill>
                <a:latin typeface="Segoe UI Black" panose="020B0A02040204020203" pitchFamily="34" charset="0"/>
                <a:ea typeface="Segoe UI Black" panose="020B0A02040204020203" pitchFamily="34" charset="0"/>
                <a:cs typeface="Instrument Sans Semi Bold" pitchFamily="34" charset="-120"/>
              </a:rPr>
              <a:t>Total Stores</a:t>
            </a:r>
            <a:endParaRPr lang="en-US" sz="2150" dirty="0">
              <a:latin typeface="Segoe UI Black" panose="020B0A02040204020203" pitchFamily="34" charset="0"/>
              <a:ea typeface="Segoe UI Black" panose="020B0A02040204020203" pitchFamily="34" charset="0"/>
            </a:endParaRPr>
          </a:p>
        </p:txBody>
      </p:sp>
      <p:sp>
        <p:nvSpPr>
          <p:cNvPr id="9" name="Text 6"/>
          <p:cNvSpPr/>
          <p:nvPr/>
        </p:nvSpPr>
        <p:spPr>
          <a:xfrm>
            <a:off x="10224968" y="3933230"/>
            <a:ext cx="3628192" cy="710565"/>
          </a:xfrm>
          <a:prstGeom prst="rect">
            <a:avLst/>
          </a:prstGeom>
          <a:noFill/>
          <a:ln/>
        </p:spPr>
        <p:txBody>
          <a:bodyPr wrap="square" lIns="0" tIns="0" rIns="0" bIns="0" rtlCol="0" anchor="t"/>
          <a:lstStyle/>
          <a:p>
            <a:pPr marL="0" indent="0" algn="ctr">
              <a:lnSpc>
                <a:spcPts val="2750"/>
              </a:lnSpc>
              <a:buNone/>
            </a:pPr>
            <a:r>
              <a:rPr lang="en-US" sz="1700" dirty="0">
                <a:solidFill>
                  <a:srgbClr val="CFD0D8"/>
                </a:solidFill>
                <a:latin typeface="Segoe UI Black" panose="020B0A02040204020203" pitchFamily="34" charset="0"/>
                <a:ea typeface="Segoe UI Black" panose="020B0A02040204020203" pitchFamily="34" charset="0"/>
                <a:cs typeface="Instrument Sans Medium" pitchFamily="34" charset="-120"/>
              </a:rPr>
              <a:t>Number of ZUDIO stores contributing to sales.</a:t>
            </a:r>
            <a:endParaRPr lang="en-US" sz="1700" dirty="0">
              <a:latin typeface="Segoe UI Black" panose="020B0A02040204020203" pitchFamily="34" charset="0"/>
              <a:ea typeface="Segoe UI Black" panose="020B0A02040204020203" pitchFamily="34" charset="0"/>
            </a:endParaRPr>
          </a:p>
        </p:txBody>
      </p:sp>
      <p:sp>
        <p:nvSpPr>
          <p:cNvPr id="10" name="Text 7"/>
          <p:cNvSpPr/>
          <p:nvPr/>
        </p:nvSpPr>
        <p:spPr>
          <a:xfrm>
            <a:off x="6263640" y="5421035"/>
            <a:ext cx="3628192" cy="732830"/>
          </a:xfrm>
          <a:prstGeom prst="rect">
            <a:avLst/>
          </a:prstGeom>
          <a:noFill/>
          <a:ln/>
        </p:spPr>
        <p:txBody>
          <a:bodyPr wrap="none" lIns="0" tIns="0" rIns="0" bIns="0" rtlCol="0" anchor="t"/>
          <a:lstStyle/>
          <a:p>
            <a:pPr marL="0" indent="0" algn="ctr">
              <a:lnSpc>
                <a:spcPts val="5750"/>
              </a:lnSpc>
              <a:buNone/>
            </a:pPr>
            <a:r>
              <a:rPr lang="en-US" sz="5750" dirty="0">
                <a:solidFill>
                  <a:srgbClr val="CFD0D8"/>
                </a:solidFill>
                <a:latin typeface="Segoe UI Black" panose="020B0A02040204020203" pitchFamily="34" charset="0"/>
                <a:ea typeface="Segoe UI Black" panose="020B0A02040204020203" pitchFamily="34" charset="0"/>
                <a:cs typeface="Instrument Sans Semi Bold" pitchFamily="34" charset="-120"/>
              </a:rPr>
              <a:t>701.56</a:t>
            </a:r>
            <a:endParaRPr lang="en-US" sz="5750" dirty="0">
              <a:latin typeface="Segoe UI Black" panose="020B0A02040204020203" pitchFamily="34" charset="0"/>
              <a:ea typeface="Segoe UI Black" panose="020B0A02040204020203" pitchFamily="34" charset="0"/>
            </a:endParaRPr>
          </a:p>
        </p:txBody>
      </p:sp>
      <p:sp>
        <p:nvSpPr>
          <p:cNvPr id="11" name="Text 8"/>
          <p:cNvSpPr/>
          <p:nvPr/>
        </p:nvSpPr>
        <p:spPr>
          <a:xfrm>
            <a:off x="6689646" y="6431399"/>
            <a:ext cx="2776180" cy="347067"/>
          </a:xfrm>
          <a:prstGeom prst="rect">
            <a:avLst/>
          </a:prstGeom>
          <a:noFill/>
          <a:ln/>
        </p:spPr>
        <p:txBody>
          <a:bodyPr wrap="none" lIns="0" tIns="0" rIns="0" bIns="0" rtlCol="0" anchor="t"/>
          <a:lstStyle/>
          <a:p>
            <a:pPr marL="0" indent="0" algn="ctr">
              <a:lnSpc>
                <a:spcPts val="2700"/>
              </a:lnSpc>
              <a:buNone/>
            </a:pPr>
            <a:r>
              <a:rPr lang="en-US" sz="2150" dirty="0">
                <a:solidFill>
                  <a:srgbClr val="CFD0D8"/>
                </a:solidFill>
                <a:latin typeface="Segoe UI Black" panose="020B0A02040204020203" pitchFamily="34" charset="0"/>
                <a:ea typeface="Segoe UI Black" panose="020B0A02040204020203" pitchFamily="34" charset="0"/>
                <a:cs typeface="Instrument Sans Semi Bold" pitchFamily="34" charset="-120"/>
              </a:rPr>
              <a:t>Average Margin</a:t>
            </a:r>
            <a:endParaRPr lang="en-US" sz="2150" dirty="0">
              <a:latin typeface="Segoe UI Black" panose="020B0A02040204020203" pitchFamily="34" charset="0"/>
              <a:ea typeface="Segoe UI Black" panose="020B0A02040204020203" pitchFamily="34" charset="0"/>
            </a:endParaRPr>
          </a:p>
        </p:txBody>
      </p:sp>
      <p:sp>
        <p:nvSpPr>
          <p:cNvPr id="12" name="Text 9"/>
          <p:cNvSpPr/>
          <p:nvPr/>
        </p:nvSpPr>
        <p:spPr>
          <a:xfrm>
            <a:off x="6263640" y="6911697"/>
            <a:ext cx="3628192" cy="710565"/>
          </a:xfrm>
          <a:prstGeom prst="rect">
            <a:avLst/>
          </a:prstGeom>
          <a:noFill/>
          <a:ln/>
        </p:spPr>
        <p:txBody>
          <a:bodyPr wrap="square" lIns="0" tIns="0" rIns="0" bIns="0" rtlCol="0" anchor="t"/>
          <a:lstStyle/>
          <a:p>
            <a:pPr marL="0" indent="0" algn="ctr">
              <a:lnSpc>
                <a:spcPts val="2750"/>
              </a:lnSpc>
              <a:buNone/>
            </a:pPr>
            <a:r>
              <a:rPr lang="en-US" sz="1700" dirty="0">
                <a:solidFill>
                  <a:srgbClr val="CFD0D8"/>
                </a:solidFill>
                <a:latin typeface="Segoe UI Black" panose="020B0A02040204020203" pitchFamily="34" charset="0"/>
                <a:ea typeface="Segoe UI Black" panose="020B0A02040204020203" pitchFamily="34" charset="0"/>
                <a:cs typeface="Instrument Sans Medium" pitchFamily="34" charset="-120"/>
              </a:rPr>
              <a:t>Average profit margin achieved on sales.</a:t>
            </a:r>
            <a:endParaRPr lang="en-US" sz="1700" dirty="0">
              <a:latin typeface="Segoe UI Black" panose="020B0A02040204020203" pitchFamily="34" charset="0"/>
              <a:ea typeface="Segoe UI Black" panose="020B0A02040204020203" pitchFamily="34" charset="0"/>
            </a:endParaRPr>
          </a:p>
        </p:txBody>
      </p:sp>
      <p:sp>
        <p:nvSpPr>
          <p:cNvPr id="13" name="Text 10"/>
          <p:cNvSpPr/>
          <p:nvPr/>
        </p:nvSpPr>
        <p:spPr>
          <a:xfrm>
            <a:off x="10224968" y="5421035"/>
            <a:ext cx="3628192" cy="732830"/>
          </a:xfrm>
          <a:prstGeom prst="rect">
            <a:avLst/>
          </a:prstGeom>
          <a:noFill/>
          <a:ln/>
        </p:spPr>
        <p:txBody>
          <a:bodyPr wrap="none" lIns="0" tIns="0" rIns="0" bIns="0" rtlCol="0" anchor="t"/>
          <a:lstStyle/>
          <a:p>
            <a:pPr marL="0" indent="0" algn="ctr">
              <a:lnSpc>
                <a:spcPts val="5750"/>
              </a:lnSpc>
              <a:buNone/>
            </a:pPr>
            <a:r>
              <a:rPr lang="en-US" sz="5750" dirty="0">
                <a:solidFill>
                  <a:srgbClr val="CFD0D8"/>
                </a:solidFill>
                <a:latin typeface="Segoe UI Black" panose="020B0A02040204020203" pitchFamily="34" charset="0"/>
                <a:ea typeface="Segoe UI Black" panose="020B0A02040204020203" pitchFamily="34" charset="0"/>
                <a:cs typeface="Instrument Sans Semi Bold" pitchFamily="34" charset="-120"/>
              </a:rPr>
              <a:t>25.05M</a:t>
            </a:r>
            <a:endParaRPr lang="en-US" sz="5750" dirty="0">
              <a:latin typeface="Segoe UI Black" panose="020B0A02040204020203" pitchFamily="34" charset="0"/>
              <a:ea typeface="Segoe UI Black" panose="020B0A02040204020203" pitchFamily="34" charset="0"/>
            </a:endParaRPr>
          </a:p>
        </p:txBody>
      </p:sp>
      <p:sp>
        <p:nvSpPr>
          <p:cNvPr id="14" name="Text 11"/>
          <p:cNvSpPr/>
          <p:nvPr/>
        </p:nvSpPr>
        <p:spPr>
          <a:xfrm>
            <a:off x="10650974" y="6431399"/>
            <a:ext cx="2776180" cy="347067"/>
          </a:xfrm>
          <a:prstGeom prst="rect">
            <a:avLst/>
          </a:prstGeom>
          <a:noFill/>
          <a:ln/>
        </p:spPr>
        <p:txBody>
          <a:bodyPr wrap="none" lIns="0" tIns="0" rIns="0" bIns="0" rtlCol="0" anchor="t"/>
          <a:lstStyle/>
          <a:p>
            <a:pPr marL="0" indent="0" algn="ctr">
              <a:lnSpc>
                <a:spcPts val="2700"/>
              </a:lnSpc>
              <a:buNone/>
            </a:pPr>
            <a:r>
              <a:rPr lang="en-US" sz="2150" dirty="0">
                <a:solidFill>
                  <a:srgbClr val="CFD0D8"/>
                </a:solidFill>
                <a:latin typeface="Segoe UI Black" panose="020B0A02040204020203" pitchFamily="34" charset="0"/>
                <a:ea typeface="Segoe UI Black" panose="020B0A02040204020203" pitchFamily="34" charset="0"/>
                <a:cs typeface="Instrument Sans Semi Bold" pitchFamily="34" charset="-120"/>
              </a:rPr>
              <a:t>Total Profit</a:t>
            </a:r>
            <a:endParaRPr lang="en-US" sz="2150" dirty="0">
              <a:latin typeface="Segoe UI Black" panose="020B0A02040204020203" pitchFamily="34" charset="0"/>
              <a:ea typeface="Segoe UI Black" panose="020B0A02040204020203" pitchFamily="34" charset="0"/>
            </a:endParaRPr>
          </a:p>
        </p:txBody>
      </p:sp>
      <p:sp>
        <p:nvSpPr>
          <p:cNvPr id="15" name="Text 12"/>
          <p:cNvSpPr/>
          <p:nvPr/>
        </p:nvSpPr>
        <p:spPr>
          <a:xfrm>
            <a:off x="10224968" y="6911697"/>
            <a:ext cx="3628192" cy="355283"/>
          </a:xfrm>
          <a:prstGeom prst="rect">
            <a:avLst/>
          </a:prstGeom>
          <a:noFill/>
          <a:ln/>
        </p:spPr>
        <p:txBody>
          <a:bodyPr wrap="none" lIns="0" tIns="0" rIns="0" bIns="0" rtlCol="0" anchor="t"/>
          <a:lstStyle/>
          <a:p>
            <a:pPr marL="0" indent="0" algn="ctr">
              <a:lnSpc>
                <a:spcPts val="2750"/>
              </a:lnSpc>
              <a:buNone/>
            </a:pPr>
            <a:r>
              <a:rPr lang="en-US" sz="1700" dirty="0">
                <a:solidFill>
                  <a:srgbClr val="CFD0D8"/>
                </a:solidFill>
                <a:latin typeface="Segoe UI Black" panose="020B0A02040204020203" pitchFamily="34" charset="0"/>
                <a:ea typeface="Segoe UI Black" panose="020B0A02040204020203" pitchFamily="34" charset="0"/>
                <a:cs typeface="Instrument Sans Medium" pitchFamily="34" charset="-120"/>
              </a:rPr>
              <a:t>Total profit generated from sales.</a:t>
            </a:r>
            <a:endParaRPr lang="en-US" sz="1700" dirty="0">
              <a:latin typeface="Segoe UI Black" panose="020B0A02040204020203" pitchFamily="34" charset="0"/>
              <a:ea typeface="Segoe UI Black" panose="020B0A02040204020203"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1261" y="441008"/>
            <a:ext cx="4766191" cy="501015"/>
          </a:xfrm>
          <a:prstGeom prst="rect">
            <a:avLst/>
          </a:prstGeom>
          <a:noFill/>
          <a:ln/>
        </p:spPr>
        <p:txBody>
          <a:bodyPr wrap="none" lIns="0" tIns="0" rIns="0" bIns="0" rtlCol="0" anchor="t"/>
          <a:lstStyle/>
          <a:p>
            <a:pPr marL="0" indent="0" algn="l">
              <a:lnSpc>
                <a:spcPts val="3900"/>
              </a:lnSpc>
              <a:buNone/>
            </a:pPr>
            <a:r>
              <a:rPr lang="en-US" sz="3600" dirty="0">
                <a:solidFill>
                  <a:srgbClr val="CBCCCE"/>
                </a:solidFill>
                <a:latin typeface="Segoe UI Black" panose="020B0A02040204020203" pitchFamily="34" charset="0"/>
                <a:ea typeface="Segoe UI Black" panose="020B0A02040204020203" pitchFamily="34" charset="0"/>
                <a:cs typeface="Instrument Sans Semi Bold" pitchFamily="34" charset="-120"/>
              </a:rPr>
              <a:t>Dashboard Visualizations</a:t>
            </a:r>
            <a:endParaRPr lang="en-US" sz="3600" dirty="0">
              <a:latin typeface="Segoe UI Black" panose="020B0A02040204020203" pitchFamily="34" charset="0"/>
              <a:ea typeface="Segoe UI Black" panose="020B0A02040204020203" pitchFamily="34" charset="0"/>
            </a:endParaRPr>
          </a:p>
        </p:txBody>
      </p:sp>
      <p:grpSp>
        <p:nvGrpSpPr>
          <p:cNvPr id="33" name="Group 32">
            <a:extLst>
              <a:ext uri="{FF2B5EF4-FFF2-40B4-BE49-F238E27FC236}">
                <a16:creationId xmlns:a16="http://schemas.microsoft.com/office/drawing/2014/main" id="{54880B96-7BF6-0D8C-7F68-1B1FD4942AF1}"/>
              </a:ext>
            </a:extLst>
          </p:cNvPr>
          <p:cNvGrpSpPr/>
          <p:nvPr/>
        </p:nvGrpSpPr>
        <p:grpSpPr>
          <a:xfrm>
            <a:off x="522331" y="1120529"/>
            <a:ext cx="13562876" cy="6267117"/>
            <a:chOff x="545190" y="1013514"/>
            <a:chExt cx="13562876" cy="6267117"/>
          </a:xfrm>
        </p:grpSpPr>
        <p:sp>
          <p:nvSpPr>
            <p:cNvPr id="3" name="Shape 1"/>
            <p:cNvSpPr/>
            <p:nvPr/>
          </p:nvSpPr>
          <p:spPr>
            <a:xfrm>
              <a:off x="7303769" y="1262658"/>
              <a:ext cx="45719" cy="6017973"/>
            </a:xfrm>
            <a:prstGeom prst="roundRect">
              <a:avLst>
                <a:gd name="adj" fmla="val 294637"/>
              </a:avLst>
            </a:prstGeom>
            <a:solidFill>
              <a:srgbClr val="56565B"/>
            </a:solidFill>
            <a:ln/>
          </p:spPr>
        </p:sp>
        <p:grpSp>
          <p:nvGrpSpPr>
            <p:cNvPr id="32" name="Group 31">
              <a:extLst>
                <a:ext uri="{FF2B5EF4-FFF2-40B4-BE49-F238E27FC236}">
                  <a16:creationId xmlns:a16="http://schemas.microsoft.com/office/drawing/2014/main" id="{27739342-BB2F-A456-E6B5-409E321ECA9A}"/>
                </a:ext>
              </a:extLst>
            </p:cNvPr>
            <p:cNvGrpSpPr/>
            <p:nvPr/>
          </p:nvGrpSpPr>
          <p:grpSpPr>
            <a:xfrm>
              <a:off x="545190" y="1013514"/>
              <a:ext cx="13562876" cy="6202572"/>
              <a:chOff x="561261" y="1262658"/>
              <a:chExt cx="13507879" cy="5749885"/>
            </a:xfrm>
          </p:grpSpPr>
          <p:sp>
            <p:nvSpPr>
              <p:cNvPr id="4" name="Shape 2"/>
              <p:cNvSpPr/>
              <p:nvPr/>
            </p:nvSpPr>
            <p:spPr>
              <a:xfrm>
                <a:off x="6676668" y="1431608"/>
                <a:ext cx="481012" cy="22860"/>
              </a:xfrm>
              <a:prstGeom prst="roundRect">
                <a:avLst>
                  <a:gd name="adj" fmla="val 294637"/>
                </a:avLst>
              </a:prstGeom>
              <a:solidFill>
                <a:srgbClr val="56565B"/>
              </a:solidFill>
              <a:ln/>
            </p:spPr>
          </p:sp>
          <p:sp>
            <p:nvSpPr>
              <p:cNvPr id="5" name="Shape 3"/>
              <p:cNvSpPr/>
              <p:nvPr/>
            </p:nvSpPr>
            <p:spPr>
              <a:xfrm>
                <a:off x="7134820" y="1262658"/>
                <a:ext cx="360759" cy="360759"/>
              </a:xfrm>
              <a:prstGeom prst="roundRect">
                <a:avLst>
                  <a:gd name="adj" fmla="val 18670"/>
                </a:avLst>
              </a:prstGeom>
              <a:solidFill>
                <a:srgbClr val="3D3D42"/>
              </a:solidFill>
              <a:ln w="7620">
                <a:solidFill>
                  <a:srgbClr val="56565B"/>
                </a:solidFill>
                <a:prstDash val="solid"/>
              </a:ln>
            </p:spPr>
          </p:sp>
          <p:sp>
            <p:nvSpPr>
              <p:cNvPr id="6" name="Text 4"/>
              <p:cNvSpPr/>
              <p:nvPr/>
            </p:nvSpPr>
            <p:spPr>
              <a:xfrm>
                <a:off x="561261" y="1340406"/>
                <a:ext cx="5952173" cy="205264"/>
              </a:xfrm>
              <a:prstGeom prst="rect">
                <a:avLst/>
              </a:prstGeom>
              <a:noFill/>
              <a:ln/>
            </p:spPr>
            <p:txBody>
              <a:bodyPr wrap="none" lIns="0" tIns="0" rIns="0" bIns="0" rtlCol="0" anchor="t"/>
              <a:lstStyle/>
              <a:p>
                <a:pPr marL="0" indent="0" algn="r">
                  <a:lnSpc>
                    <a:spcPts val="1600"/>
                  </a:lnSpc>
                  <a:buNone/>
                </a:pPr>
                <a:r>
                  <a:rPr lang="en-US" sz="1400" dirty="0">
                    <a:solidFill>
                      <a:srgbClr val="CFD0D8"/>
                    </a:solidFill>
                    <a:latin typeface="Segoe UI Black" panose="020B0A02040204020203" pitchFamily="34" charset="0"/>
                    <a:ea typeface="Segoe UI Black" panose="020B0A02040204020203" pitchFamily="34" charset="0"/>
                    <a:cs typeface="Instrument Sans Medium" pitchFamily="34" charset="-120"/>
                  </a:rPr>
                  <a:t>Top 3 States by Sales Profit</a:t>
                </a:r>
                <a:endParaRPr lang="en-US" sz="1400" dirty="0">
                  <a:latin typeface="Segoe UI Black" panose="020B0A02040204020203" pitchFamily="34" charset="0"/>
                  <a:ea typeface="Segoe UI Black" panose="020B0A02040204020203" pitchFamily="34" charset="0"/>
                </a:endParaRPr>
              </a:p>
            </p:txBody>
          </p:sp>
          <p:sp>
            <p:nvSpPr>
              <p:cNvPr id="7" name="Text 5"/>
              <p:cNvSpPr/>
              <p:nvPr/>
            </p:nvSpPr>
            <p:spPr>
              <a:xfrm>
                <a:off x="561261" y="1641872"/>
                <a:ext cx="5952173" cy="410527"/>
              </a:xfrm>
              <a:prstGeom prst="rect">
                <a:avLst/>
              </a:prstGeom>
              <a:noFill/>
              <a:ln/>
            </p:spPr>
            <p:txBody>
              <a:bodyPr wrap="square" lIns="0" tIns="0" rIns="0" bIns="0" rtlCol="0" anchor="t"/>
              <a:lstStyle/>
              <a:p>
                <a:pPr marL="0" indent="0" algn="r">
                  <a:lnSpc>
                    <a:spcPts val="1600"/>
                  </a:lnSpc>
                  <a:buNone/>
                </a:pPr>
                <a:r>
                  <a:rPr lang="en-US" sz="1400" dirty="0">
                    <a:solidFill>
                      <a:srgbClr val="CFD0D8"/>
                    </a:solidFill>
                    <a:latin typeface="Segoe UI Black" panose="020B0A02040204020203" pitchFamily="34" charset="0"/>
                    <a:ea typeface="Segoe UI Black" panose="020B0A02040204020203" pitchFamily="34" charset="0"/>
                    <a:cs typeface="Instrument Sans Medium" pitchFamily="34" charset="-120"/>
                  </a:rPr>
                  <a:t>Pie Chart showing sales profit contribution of top performing states (Gujarat, Karnataka, Maharashtra).</a:t>
                </a:r>
                <a:endParaRPr lang="en-US" sz="1400" dirty="0">
                  <a:latin typeface="Segoe UI Black" panose="020B0A02040204020203" pitchFamily="34" charset="0"/>
                  <a:ea typeface="Segoe UI Black" panose="020B0A02040204020203" pitchFamily="34" charset="0"/>
                </a:endParaRPr>
              </a:p>
            </p:txBody>
          </p:sp>
          <p:sp>
            <p:nvSpPr>
              <p:cNvPr id="8" name="Shape 6"/>
              <p:cNvSpPr/>
              <p:nvPr/>
            </p:nvSpPr>
            <p:spPr>
              <a:xfrm>
                <a:off x="7472720" y="2393633"/>
                <a:ext cx="481012" cy="22860"/>
              </a:xfrm>
              <a:prstGeom prst="roundRect">
                <a:avLst>
                  <a:gd name="adj" fmla="val 294637"/>
                </a:avLst>
              </a:prstGeom>
              <a:solidFill>
                <a:srgbClr val="56565B"/>
              </a:solidFill>
              <a:ln/>
            </p:spPr>
          </p:sp>
          <p:sp>
            <p:nvSpPr>
              <p:cNvPr id="9" name="Shape 7"/>
              <p:cNvSpPr/>
              <p:nvPr/>
            </p:nvSpPr>
            <p:spPr>
              <a:xfrm>
                <a:off x="7134820" y="2224683"/>
                <a:ext cx="360759" cy="360759"/>
              </a:xfrm>
              <a:prstGeom prst="roundRect">
                <a:avLst>
                  <a:gd name="adj" fmla="val 18670"/>
                </a:avLst>
              </a:prstGeom>
              <a:solidFill>
                <a:srgbClr val="3D3D42"/>
              </a:solidFill>
              <a:ln w="7620">
                <a:solidFill>
                  <a:srgbClr val="56565B"/>
                </a:solidFill>
                <a:prstDash val="solid"/>
              </a:ln>
            </p:spPr>
          </p:sp>
          <p:sp>
            <p:nvSpPr>
              <p:cNvPr id="10" name="Text 8"/>
              <p:cNvSpPr/>
              <p:nvPr/>
            </p:nvSpPr>
            <p:spPr>
              <a:xfrm>
                <a:off x="8116967" y="2302431"/>
                <a:ext cx="5952173" cy="205264"/>
              </a:xfrm>
              <a:prstGeom prst="rect">
                <a:avLst/>
              </a:prstGeom>
              <a:noFill/>
              <a:ln/>
            </p:spPr>
            <p:txBody>
              <a:bodyPr wrap="none" lIns="0" tIns="0" rIns="0" bIns="0" rtlCol="0" anchor="t"/>
              <a:lstStyle/>
              <a:p>
                <a:pPr marL="0" indent="0" algn="l">
                  <a:lnSpc>
                    <a:spcPts val="1600"/>
                  </a:lnSpc>
                  <a:buNone/>
                </a:pPr>
                <a:r>
                  <a:rPr lang="en-US" sz="1400" dirty="0">
                    <a:solidFill>
                      <a:srgbClr val="CFD0D8"/>
                    </a:solidFill>
                    <a:latin typeface="Segoe UI Black" panose="020B0A02040204020203" pitchFamily="34" charset="0"/>
                    <a:ea typeface="Segoe UI Black" panose="020B0A02040204020203" pitchFamily="34" charset="0"/>
                    <a:cs typeface="Instrument Sans Medium" pitchFamily="34" charset="-120"/>
                  </a:rPr>
                  <a:t>Total Sales by Category</a:t>
                </a:r>
                <a:endParaRPr lang="en-US" sz="1400" dirty="0">
                  <a:latin typeface="Segoe UI Black" panose="020B0A02040204020203" pitchFamily="34" charset="0"/>
                  <a:ea typeface="Segoe UI Black" panose="020B0A02040204020203" pitchFamily="34" charset="0"/>
                </a:endParaRPr>
              </a:p>
            </p:txBody>
          </p:sp>
          <p:sp>
            <p:nvSpPr>
              <p:cNvPr id="11" name="Text 9"/>
              <p:cNvSpPr/>
              <p:nvPr/>
            </p:nvSpPr>
            <p:spPr>
              <a:xfrm>
                <a:off x="8116967" y="2603897"/>
                <a:ext cx="5952173" cy="205264"/>
              </a:xfrm>
              <a:prstGeom prst="rect">
                <a:avLst/>
              </a:prstGeom>
              <a:noFill/>
              <a:ln/>
            </p:spPr>
            <p:txBody>
              <a:bodyPr wrap="none" lIns="0" tIns="0" rIns="0" bIns="0" rtlCol="0" anchor="t"/>
              <a:lstStyle/>
              <a:p>
                <a:pPr marL="0" indent="0" algn="l">
                  <a:lnSpc>
                    <a:spcPts val="1600"/>
                  </a:lnSpc>
                  <a:buNone/>
                </a:pPr>
                <a:r>
                  <a:rPr lang="en-US" sz="1400" dirty="0">
                    <a:solidFill>
                      <a:srgbClr val="CFD0D8"/>
                    </a:solidFill>
                    <a:latin typeface="Segoe UI Black" panose="020B0A02040204020203" pitchFamily="34" charset="0"/>
                    <a:ea typeface="Segoe UI Black" panose="020B0A02040204020203" pitchFamily="34" charset="0"/>
                    <a:cs typeface="Instrument Sans Medium" pitchFamily="34" charset="-120"/>
                  </a:rPr>
                  <a:t>Pie Chart displaying sales distribution across Kids, Women, and Men categories.</a:t>
                </a:r>
                <a:endParaRPr lang="en-US" sz="1400" dirty="0">
                  <a:latin typeface="Segoe UI Black" panose="020B0A02040204020203" pitchFamily="34" charset="0"/>
                  <a:ea typeface="Segoe UI Black" panose="020B0A02040204020203" pitchFamily="34" charset="0"/>
                </a:endParaRPr>
              </a:p>
            </p:txBody>
          </p:sp>
          <p:sp>
            <p:nvSpPr>
              <p:cNvPr id="12" name="Shape 10"/>
              <p:cNvSpPr/>
              <p:nvPr/>
            </p:nvSpPr>
            <p:spPr>
              <a:xfrm>
                <a:off x="6676668" y="3234214"/>
                <a:ext cx="481012" cy="22860"/>
              </a:xfrm>
              <a:prstGeom prst="roundRect">
                <a:avLst>
                  <a:gd name="adj" fmla="val 294637"/>
                </a:avLst>
              </a:prstGeom>
              <a:solidFill>
                <a:srgbClr val="56565B"/>
              </a:solidFill>
              <a:ln/>
            </p:spPr>
          </p:sp>
          <p:sp>
            <p:nvSpPr>
              <p:cNvPr id="13" name="Shape 11"/>
              <p:cNvSpPr/>
              <p:nvPr/>
            </p:nvSpPr>
            <p:spPr>
              <a:xfrm>
                <a:off x="7134820" y="3065264"/>
                <a:ext cx="360759" cy="360759"/>
              </a:xfrm>
              <a:prstGeom prst="roundRect">
                <a:avLst>
                  <a:gd name="adj" fmla="val 18670"/>
                </a:avLst>
              </a:prstGeom>
              <a:solidFill>
                <a:srgbClr val="3D3D42"/>
              </a:solidFill>
              <a:ln w="7620">
                <a:solidFill>
                  <a:srgbClr val="56565B"/>
                </a:solidFill>
                <a:prstDash val="solid"/>
              </a:ln>
            </p:spPr>
          </p:sp>
          <p:sp>
            <p:nvSpPr>
              <p:cNvPr id="14" name="Text 12"/>
              <p:cNvSpPr/>
              <p:nvPr/>
            </p:nvSpPr>
            <p:spPr>
              <a:xfrm>
                <a:off x="561261" y="3143012"/>
                <a:ext cx="5952173" cy="205264"/>
              </a:xfrm>
              <a:prstGeom prst="rect">
                <a:avLst/>
              </a:prstGeom>
              <a:noFill/>
              <a:ln/>
            </p:spPr>
            <p:txBody>
              <a:bodyPr wrap="none" lIns="0" tIns="0" rIns="0" bIns="0" rtlCol="0" anchor="t"/>
              <a:lstStyle/>
              <a:p>
                <a:pPr marL="0" indent="0" algn="r">
                  <a:lnSpc>
                    <a:spcPts val="1600"/>
                  </a:lnSpc>
                  <a:buNone/>
                </a:pPr>
                <a:r>
                  <a:rPr lang="en-US" sz="1400" dirty="0">
                    <a:solidFill>
                      <a:srgbClr val="CFD0D8"/>
                    </a:solidFill>
                    <a:latin typeface="Segoe UI Black" panose="020B0A02040204020203" pitchFamily="34" charset="0"/>
                    <a:ea typeface="Segoe UI Black" panose="020B0A02040204020203" pitchFamily="34" charset="0"/>
                    <a:cs typeface="Instrument Sans Medium" pitchFamily="34" charset="-120"/>
                  </a:rPr>
                  <a:t>Total Sales by Store Type</a:t>
                </a:r>
                <a:endParaRPr lang="en-US" sz="1400" dirty="0">
                  <a:latin typeface="Segoe UI Black" panose="020B0A02040204020203" pitchFamily="34" charset="0"/>
                  <a:ea typeface="Segoe UI Black" panose="020B0A02040204020203" pitchFamily="34" charset="0"/>
                </a:endParaRPr>
              </a:p>
            </p:txBody>
          </p:sp>
          <p:sp>
            <p:nvSpPr>
              <p:cNvPr id="15" name="Text 13"/>
              <p:cNvSpPr/>
              <p:nvPr/>
            </p:nvSpPr>
            <p:spPr>
              <a:xfrm>
                <a:off x="561261" y="3444478"/>
                <a:ext cx="5952173" cy="205264"/>
              </a:xfrm>
              <a:prstGeom prst="rect">
                <a:avLst/>
              </a:prstGeom>
              <a:noFill/>
              <a:ln/>
            </p:spPr>
            <p:txBody>
              <a:bodyPr wrap="none" lIns="0" tIns="0" rIns="0" bIns="0" rtlCol="0" anchor="t"/>
              <a:lstStyle/>
              <a:p>
                <a:pPr marL="0" indent="0" algn="r">
                  <a:lnSpc>
                    <a:spcPts val="1600"/>
                  </a:lnSpc>
                  <a:buNone/>
                </a:pPr>
                <a:r>
                  <a:rPr lang="en-US" sz="1400" dirty="0">
                    <a:solidFill>
                      <a:srgbClr val="CFD0D8"/>
                    </a:solidFill>
                    <a:latin typeface="Segoe UI Black" panose="020B0A02040204020203" pitchFamily="34" charset="0"/>
                    <a:ea typeface="Segoe UI Black" panose="020B0A02040204020203" pitchFamily="34" charset="0"/>
                    <a:cs typeface="Instrument Sans Medium" pitchFamily="34" charset="-120"/>
                  </a:rPr>
                  <a:t>Donut Chart breaking down sales between Rented and Owned store types.</a:t>
                </a:r>
                <a:endParaRPr lang="en-US" sz="1400" dirty="0">
                  <a:latin typeface="Segoe UI Black" panose="020B0A02040204020203" pitchFamily="34" charset="0"/>
                  <a:ea typeface="Segoe UI Black" panose="020B0A02040204020203" pitchFamily="34" charset="0"/>
                </a:endParaRPr>
              </a:p>
            </p:txBody>
          </p:sp>
          <p:sp>
            <p:nvSpPr>
              <p:cNvPr id="16" name="Shape 14"/>
              <p:cNvSpPr/>
              <p:nvPr/>
            </p:nvSpPr>
            <p:spPr>
              <a:xfrm>
                <a:off x="7472720" y="4074914"/>
                <a:ext cx="481012" cy="22860"/>
              </a:xfrm>
              <a:prstGeom prst="roundRect">
                <a:avLst>
                  <a:gd name="adj" fmla="val 294637"/>
                </a:avLst>
              </a:prstGeom>
              <a:solidFill>
                <a:srgbClr val="56565B"/>
              </a:solidFill>
              <a:ln/>
            </p:spPr>
          </p:sp>
          <p:sp>
            <p:nvSpPr>
              <p:cNvPr id="17" name="Shape 15"/>
              <p:cNvSpPr/>
              <p:nvPr/>
            </p:nvSpPr>
            <p:spPr>
              <a:xfrm>
                <a:off x="7134820" y="3905964"/>
                <a:ext cx="360759" cy="360759"/>
              </a:xfrm>
              <a:prstGeom prst="roundRect">
                <a:avLst>
                  <a:gd name="adj" fmla="val 18670"/>
                </a:avLst>
              </a:prstGeom>
              <a:solidFill>
                <a:srgbClr val="3D3D42"/>
              </a:solidFill>
              <a:ln w="7620">
                <a:solidFill>
                  <a:srgbClr val="56565B"/>
                </a:solidFill>
                <a:prstDash val="solid"/>
              </a:ln>
            </p:spPr>
          </p:sp>
          <p:sp>
            <p:nvSpPr>
              <p:cNvPr id="18" name="Text 16"/>
              <p:cNvSpPr/>
              <p:nvPr/>
            </p:nvSpPr>
            <p:spPr>
              <a:xfrm>
                <a:off x="8116967" y="3983712"/>
                <a:ext cx="5952173" cy="205264"/>
              </a:xfrm>
              <a:prstGeom prst="rect">
                <a:avLst/>
              </a:prstGeom>
              <a:noFill/>
              <a:ln/>
            </p:spPr>
            <p:txBody>
              <a:bodyPr wrap="none" lIns="0" tIns="0" rIns="0" bIns="0" rtlCol="0" anchor="t"/>
              <a:lstStyle/>
              <a:p>
                <a:pPr marL="0" indent="0" algn="l">
                  <a:lnSpc>
                    <a:spcPts val="1600"/>
                  </a:lnSpc>
                  <a:buNone/>
                </a:pPr>
                <a:r>
                  <a:rPr lang="en-US" sz="1400" dirty="0">
                    <a:solidFill>
                      <a:srgbClr val="CFD0D8"/>
                    </a:solidFill>
                    <a:latin typeface="Segoe UI Black" panose="020B0A02040204020203" pitchFamily="34" charset="0"/>
                    <a:ea typeface="Segoe UI Black" panose="020B0A02040204020203" pitchFamily="34" charset="0"/>
                    <a:cs typeface="Instrument Sans Medium" pitchFamily="34" charset="-120"/>
                  </a:rPr>
                  <a:t>Total Sales by Clothing Type</a:t>
                </a:r>
                <a:endParaRPr lang="en-US" sz="1400" dirty="0">
                  <a:latin typeface="Segoe UI Black" panose="020B0A02040204020203" pitchFamily="34" charset="0"/>
                  <a:ea typeface="Segoe UI Black" panose="020B0A02040204020203" pitchFamily="34" charset="0"/>
                </a:endParaRPr>
              </a:p>
            </p:txBody>
          </p:sp>
          <p:sp>
            <p:nvSpPr>
              <p:cNvPr id="19" name="Text 17"/>
              <p:cNvSpPr/>
              <p:nvPr/>
            </p:nvSpPr>
            <p:spPr>
              <a:xfrm>
                <a:off x="8116967" y="4285178"/>
                <a:ext cx="5952173" cy="205264"/>
              </a:xfrm>
              <a:prstGeom prst="rect">
                <a:avLst/>
              </a:prstGeom>
              <a:noFill/>
              <a:ln/>
            </p:spPr>
            <p:txBody>
              <a:bodyPr wrap="none" lIns="0" tIns="0" rIns="0" bIns="0" rtlCol="0" anchor="t"/>
              <a:lstStyle/>
              <a:p>
                <a:pPr marL="0" indent="0" algn="l">
                  <a:lnSpc>
                    <a:spcPts val="1600"/>
                  </a:lnSpc>
                  <a:buNone/>
                </a:pPr>
                <a:r>
                  <a:rPr lang="en-US" sz="1400" dirty="0">
                    <a:solidFill>
                      <a:srgbClr val="CFD0D8"/>
                    </a:solidFill>
                    <a:latin typeface="Segoe UI Black" panose="020B0A02040204020203" pitchFamily="34" charset="0"/>
                    <a:ea typeface="Segoe UI Black" panose="020B0A02040204020203" pitchFamily="34" charset="0"/>
                    <a:cs typeface="Instrument Sans Medium" pitchFamily="34" charset="-120"/>
                  </a:rPr>
                  <a:t>Bar Chart illustrating total sales for each clothing type (Skirts, Dresses, Hoodies, etc.).</a:t>
                </a:r>
                <a:endParaRPr lang="en-US" sz="1400" dirty="0">
                  <a:latin typeface="Segoe UI Black" panose="020B0A02040204020203" pitchFamily="34" charset="0"/>
                  <a:ea typeface="Segoe UI Black" panose="020B0A02040204020203" pitchFamily="34" charset="0"/>
                </a:endParaRPr>
              </a:p>
            </p:txBody>
          </p:sp>
          <p:sp>
            <p:nvSpPr>
              <p:cNvPr id="20" name="Shape 18"/>
              <p:cNvSpPr/>
              <p:nvPr/>
            </p:nvSpPr>
            <p:spPr>
              <a:xfrm>
                <a:off x="6676668" y="4915614"/>
                <a:ext cx="481012" cy="22860"/>
              </a:xfrm>
              <a:prstGeom prst="roundRect">
                <a:avLst>
                  <a:gd name="adj" fmla="val 294637"/>
                </a:avLst>
              </a:prstGeom>
              <a:solidFill>
                <a:srgbClr val="56565B"/>
              </a:solidFill>
              <a:ln/>
            </p:spPr>
          </p:sp>
          <p:sp>
            <p:nvSpPr>
              <p:cNvPr id="21" name="Shape 19"/>
              <p:cNvSpPr/>
              <p:nvPr/>
            </p:nvSpPr>
            <p:spPr>
              <a:xfrm>
                <a:off x="7134820" y="4746665"/>
                <a:ext cx="360759" cy="360759"/>
              </a:xfrm>
              <a:prstGeom prst="roundRect">
                <a:avLst>
                  <a:gd name="adj" fmla="val 18670"/>
                </a:avLst>
              </a:prstGeom>
              <a:solidFill>
                <a:srgbClr val="3D3D42"/>
              </a:solidFill>
              <a:ln w="7620">
                <a:solidFill>
                  <a:srgbClr val="56565B"/>
                </a:solidFill>
                <a:prstDash val="solid"/>
              </a:ln>
            </p:spPr>
          </p:sp>
          <p:sp>
            <p:nvSpPr>
              <p:cNvPr id="22" name="Text 20"/>
              <p:cNvSpPr/>
              <p:nvPr/>
            </p:nvSpPr>
            <p:spPr>
              <a:xfrm>
                <a:off x="561261" y="4824413"/>
                <a:ext cx="5952173" cy="205264"/>
              </a:xfrm>
              <a:prstGeom prst="rect">
                <a:avLst/>
              </a:prstGeom>
              <a:noFill/>
              <a:ln/>
            </p:spPr>
            <p:txBody>
              <a:bodyPr wrap="none" lIns="0" tIns="0" rIns="0" bIns="0" rtlCol="0" anchor="t"/>
              <a:lstStyle/>
              <a:p>
                <a:pPr marL="0" indent="0" algn="r">
                  <a:lnSpc>
                    <a:spcPts val="1600"/>
                  </a:lnSpc>
                  <a:buNone/>
                </a:pPr>
                <a:r>
                  <a:rPr lang="en-US" sz="1400" dirty="0">
                    <a:solidFill>
                      <a:srgbClr val="CFD0D8"/>
                    </a:solidFill>
                    <a:latin typeface="Segoe UI Black" panose="020B0A02040204020203" pitchFamily="34" charset="0"/>
                    <a:ea typeface="Segoe UI Black" panose="020B0A02040204020203" pitchFamily="34" charset="0"/>
                    <a:cs typeface="Instrument Sans Medium" pitchFamily="34" charset="-120"/>
                  </a:rPr>
                  <a:t>Top 10 Avg Margin by City</a:t>
                </a:r>
                <a:endParaRPr lang="en-US" sz="1400" dirty="0">
                  <a:latin typeface="Segoe UI Black" panose="020B0A02040204020203" pitchFamily="34" charset="0"/>
                  <a:ea typeface="Segoe UI Black" panose="020B0A02040204020203" pitchFamily="34" charset="0"/>
                </a:endParaRPr>
              </a:p>
            </p:txBody>
          </p:sp>
          <p:sp>
            <p:nvSpPr>
              <p:cNvPr id="23" name="Text 21"/>
              <p:cNvSpPr/>
              <p:nvPr/>
            </p:nvSpPr>
            <p:spPr>
              <a:xfrm>
                <a:off x="561261" y="5125879"/>
                <a:ext cx="5952173" cy="410527"/>
              </a:xfrm>
              <a:prstGeom prst="rect">
                <a:avLst/>
              </a:prstGeom>
              <a:noFill/>
              <a:ln/>
            </p:spPr>
            <p:txBody>
              <a:bodyPr wrap="square" lIns="0" tIns="0" rIns="0" bIns="0" rtlCol="0" anchor="t"/>
              <a:lstStyle/>
              <a:p>
                <a:pPr marL="0" indent="0" algn="r">
                  <a:lnSpc>
                    <a:spcPts val="1600"/>
                  </a:lnSpc>
                  <a:buNone/>
                </a:pPr>
                <a:r>
                  <a:rPr lang="en-US" sz="1400" dirty="0">
                    <a:solidFill>
                      <a:srgbClr val="CFD0D8"/>
                    </a:solidFill>
                    <a:latin typeface="Segoe UI Black" panose="020B0A02040204020203" pitchFamily="34" charset="0"/>
                    <a:ea typeface="Segoe UI Black" panose="020B0A02040204020203" pitchFamily="34" charset="0"/>
                    <a:cs typeface="Instrument Sans Medium" pitchFamily="34" charset="-120"/>
                  </a:rPr>
                  <a:t>Horizontal Bar Chart listing cities with the highest average sales margin (Pondicherry, Ahmedabad, Patna).</a:t>
                </a:r>
                <a:endParaRPr lang="en-US" sz="1400" dirty="0">
                  <a:latin typeface="Segoe UI Black" panose="020B0A02040204020203" pitchFamily="34" charset="0"/>
                  <a:ea typeface="Segoe UI Black" panose="020B0A02040204020203" pitchFamily="34" charset="0"/>
                </a:endParaRPr>
              </a:p>
            </p:txBody>
          </p:sp>
          <p:sp>
            <p:nvSpPr>
              <p:cNvPr id="24" name="Shape 22"/>
              <p:cNvSpPr/>
              <p:nvPr/>
            </p:nvSpPr>
            <p:spPr>
              <a:xfrm>
                <a:off x="7472720" y="5756315"/>
                <a:ext cx="481012" cy="22860"/>
              </a:xfrm>
              <a:prstGeom prst="roundRect">
                <a:avLst>
                  <a:gd name="adj" fmla="val 294637"/>
                </a:avLst>
              </a:prstGeom>
              <a:solidFill>
                <a:srgbClr val="56565B"/>
              </a:solidFill>
              <a:ln/>
            </p:spPr>
          </p:sp>
          <p:sp>
            <p:nvSpPr>
              <p:cNvPr id="25" name="Shape 23"/>
              <p:cNvSpPr/>
              <p:nvPr/>
            </p:nvSpPr>
            <p:spPr>
              <a:xfrm>
                <a:off x="7134820" y="5587365"/>
                <a:ext cx="360759" cy="360759"/>
              </a:xfrm>
              <a:prstGeom prst="roundRect">
                <a:avLst>
                  <a:gd name="adj" fmla="val 18670"/>
                </a:avLst>
              </a:prstGeom>
              <a:solidFill>
                <a:srgbClr val="3D3D42"/>
              </a:solidFill>
              <a:ln w="7620">
                <a:solidFill>
                  <a:srgbClr val="56565B"/>
                </a:solidFill>
                <a:prstDash val="solid"/>
              </a:ln>
            </p:spPr>
          </p:sp>
          <p:sp>
            <p:nvSpPr>
              <p:cNvPr id="26" name="Text 24"/>
              <p:cNvSpPr/>
              <p:nvPr/>
            </p:nvSpPr>
            <p:spPr>
              <a:xfrm>
                <a:off x="8116967" y="5665113"/>
                <a:ext cx="5952173" cy="205264"/>
              </a:xfrm>
              <a:prstGeom prst="rect">
                <a:avLst/>
              </a:prstGeom>
              <a:noFill/>
              <a:ln/>
            </p:spPr>
            <p:txBody>
              <a:bodyPr wrap="none" lIns="0" tIns="0" rIns="0" bIns="0" rtlCol="0" anchor="t"/>
              <a:lstStyle/>
              <a:p>
                <a:pPr marL="0" indent="0" algn="l">
                  <a:lnSpc>
                    <a:spcPts val="1600"/>
                  </a:lnSpc>
                  <a:buNone/>
                </a:pPr>
                <a:r>
                  <a:rPr lang="en-US" sz="1400" dirty="0">
                    <a:solidFill>
                      <a:srgbClr val="CFD0D8"/>
                    </a:solidFill>
                    <a:latin typeface="Segoe UI Black" panose="020B0A02040204020203" pitchFamily="34" charset="0"/>
                    <a:ea typeface="Segoe UI Black" panose="020B0A02040204020203" pitchFamily="34" charset="0"/>
                    <a:cs typeface="Instrument Sans Medium" pitchFamily="34" charset="-120"/>
                  </a:rPr>
                  <a:t>Total Profit by State</a:t>
                </a:r>
                <a:endParaRPr lang="en-US" sz="1400" dirty="0">
                  <a:latin typeface="Segoe UI Black" panose="020B0A02040204020203" pitchFamily="34" charset="0"/>
                  <a:ea typeface="Segoe UI Black" panose="020B0A02040204020203" pitchFamily="34" charset="0"/>
                </a:endParaRPr>
              </a:p>
            </p:txBody>
          </p:sp>
          <p:sp>
            <p:nvSpPr>
              <p:cNvPr id="27" name="Text 25"/>
              <p:cNvSpPr/>
              <p:nvPr/>
            </p:nvSpPr>
            <p:spPr>
              <a:xfrm>
                <a:off x="8116967" y="5966579"/>
                <a:ext cx="5952173" cy="410527"/>
              </a:xfrm>
              <a:prstGeom prst="rect">
                <a:avLst/>
              </a:prstGeom>
              <a:noFill/>
              <a:ln/>
            </p:spPr>
            <p:txBody>
              <a:bodyPr wrap="square" lIns="0" tIns="0" rIns="0" bIns="0" rtlCol="0" anchor="t"/>
              <a:lstStyle/>
              <a:p>
                <a:pPr marL="0" indent="0" algn="l">
                  <a:lnSpc>
                    <a:spcPts val="1600"/>
                  </a:lnSpc>
                  <a:buNone/>
                </a:pPr>
                <a:r>
                  <a:rPr lang="en-US" sz="1400" dirty="0">
                    <a:solidFill>
                      <a:srgbClr val="CFD0D8"/>
                    </a:solidFill>
                    <a:latin typeface="Segoe UI Black" panose="020B0A02040204020203" pitchFamily="34" charset="0"/>
                    <a:ea typeface="Segoe UI Black" panose="020B0A02040204020203" pitchFamily="34" charset="0"/>
                    <a:cs typeface="Instrument Sans Medium" pitchFamily="34" charset="-120"/>
                  </a:rPr>
                  <a:t>Map Visualization geographically displaying total profit by state, with darker shades indicating higher profit.</a:t>
                </a:r>
                <a:endParaRPr lang="en-US" sz="1400" dirty="0">
                  <a:latin typeface="Segoe UI Black" panose="020B0A02040204020203" pitchFamily="34" charset="0"/>
                  <a:ea typeface="Segoe UI Black" panose="020B0A02040204020203" pitchFamily="34" charset="0"/>
                </a:endParaRPr>
              </a:p>
            </p:txBody>
          </p:sp>
          <p:sp>
            <p:nvSpPr>
              <p:cNvPr id="28" name="Shape 26"/>
              <p:cNvSpPr/>
              <p:nvPr/>
            </p:nvSpPr>
            <p:spPr>
              <a:xfrm>
                <a:off x="6676668" y="6597015"/>
                <a:ext cx="481012" cy="22860"/>
              </a:xfrm>
              <a:prstGeom prst="roundRect">
                <a:avLst>
                  <a:gd name="adj" fmla="val 294637"/>
                </a:avLst>
              </a:prstGeom>
              <a:solidFill>
                <a:srgbClr val="56565B"/>
              </a:solidFill>
              <a:ln/>
            </p:spPr>
          </p:sp>
          <p:sp>
            <p:nvSpPr>
              <p:cNvPr id="29" name="Shape 27"/>
              <p:cNvSpPr/>
              <p:nvPr/>
            </p:nvSpPr>
            <p:spPr>
              <a:xfrm>
                <a:off x="7134820" y="6428065"/>
                <a:ext cx="360759" cy="360759"/>
              </a:xfrm>
              <a:prstGeom prst="roundRect">
                <a:avLst>
                  <a:gd name="adj" fmla="val 18670"/>
                </a:avLst>
              </a:prstGeom>
              <a:solidFill>
                <a:srgbClr val="3D3D42"/>
              </a:solidFill>
              <a:ln w="7620">
                <a:solidFill>
                  <a:srgbClr val="56565B"/>
                </a:solidFill>
                <a:prstDash val="solid"/>
              </a:ln>
            </p:spPr>
          </p:sp>
          <p:sp>
            <p:nvSpPr>
              <p:cNvPr id="30" name="Text 28"/>
              <p:cNvSpPr/>
              <p:nvPr/>
            </p:nvSpPr>
            <p:spPr>
              <a:xfrm>
                <a:off x="561261" y="6505813"/>
                <a:ext cx="5952173" cy="205264"/>
              </a:xfrm>
              <a:prstGeom prst="rect">
                <a:avLst/>
              </a:prstGeom>
              <a:noFill/>
              <a:ln/>
            </p:spPr>
            <p:txBody>
              <a:bodyPr wrap="none" lIns="0" tIns="0" rIns="0" bIns="0" rtlCol="0" anchor="t"/>
              <a:lstStyle/>
              <a:p>
                <a:pPr marL="0" indent="0" algn="r">
                  <a:lnSpc>
                    <a:spcPts val="1600"/>
                  </a:lnSpc>
                  <a:buNone/>
                </a:pPr>
                <a:r>
                  <a:rPr lang="en-US" sz="1400" dirty="0">
                    <a:solidFill>
                      <a:srgbClr val="CFD0D8"/>
                    </a:solidFill>
                    <a:latin typeface="Segoe UI Black" panose="020B0A02040204020203" pitchFamily="34" charset="0"/>
                    <a:ea typeface="Segoe UI Black" panose="020B0A02040204020203" pitchFamily="34" charset="0"/>
                    <a:cs typeface="Instrument Sans Medium" pitchFamily="34" charset="-120"/>
                  </a:rPr>
                  <a:t>Average of Sales Profit by Quarter</a:t>
                </a:r>
                <a:endParaRPr lang="en-US" sz="1400" dirty="0">
                  <a:latin typeface="Segoe UI Black" panose="020B0A02040204020203" pitchFamily="34" charset="0"/>
                  <a:ea typeface="Segoe UI Black" panose="020B0A02040204020203" pitchFamily="34" charset="0"/>
                </a:endParaRPr>
              </a:p>
            </p:txBody>
          </p:sp>
          <p:sp>
            <p:nvSpPr>
              <p:cNvPr id="31" name="Text 29"/>
              <p:cNvSpPr/>
              <p:nvPr/>
            </p:nvSpPr>
            <p:spPr>
              <a:xfrm>
                <a:off x="561261" y="6807279"/>
                <a:ext cx="5952173" cy="205264"/>
              </a:xfrm>
              <a:prstGeom prst="rect">
                <a:avLst/>
              </a:prstGeom>
              <a:noFill/>
              <a:ln/>
            </p:spPr>
            <p:txBody>
              <a:bodyPr wrap="none" lIns="0" tIns="0" rIns="0" bIns="0" rtlCol="0" anchor="t"/>
              <a:lstStyle/>
              <a:p>
                <a:pPr marL="0" indent="0" algn="r">
                  <a:lnSpc>
                    <a:spcPts val="1600"/>
                  </a:lnSpc>
                  <a:buNone/>
                </a:pPr>
                <a:r>
                  <a:rPr lang="en-US" sz="1400" dirty="0">
                    <a:solidFill>
                      <a:srgbClr val="CFD0D8"/>
                    </a:solidFill>
                    <a:latin typeface="Segoe UI Black" panose="020B0A02040204020203" pitchFamily="34" charset="0"/>
                    <a:ea typeface="Segoe UI Black" panose="020B0A02040204020203" pitchFamily="34" charset="0"/>
                    <a:cs typeface="Instrument Sans Medium" pitchFamily="34" charset="-120"/>
                  </a:rPr>
                  <a:t>Line Chart showing trend of average sales profit across quarters</a:t>
                </a:r>
              </a:p>
              <a:p>
                <a:pPr marL="0" indent="0" algn="r">
                  <a:lnSpc>
                    <a:spcPts val="1600"/>
                  </a:lnSpc>
                  <a:buNone/>
                </a:pPr>
                <a:r>
                  <a:rPr lang="en-US" sz="1400" dirty="0">
                    <a:solidFill>
                      <a:srgbClr val="CFD0D8"/>
                    </a:solidFill>
                    <a:latin typeface="Segoe UI Black" panose="020B0A02040204020203" pitchFamily="34" charset="0"/>
                    <a:ea typeface="Segoe UI Black" panose="020B0A02040204020203" pitchFamily="34" charset="0"/>
                    <a:cs typeface="Instrument Sans Medium" pitchFamily="34" charset="-120"/>
                  </a:rPr>
                  <a:t> (Qtr 1, Qtr 2, Qtr 3, Qtr 4).</a:t>
                </a:r>
                <a:endParaRPr lang="en-US" sz="1400" dirty="0">
                  <a:latin typeface="Segoe UI Black" panose="020B0A02040204020203" pitchFamily="34" charset="0"/>
                  <a:ea typeface="Segoe UI Black" panose="020B0A02040204020203" pitchFamily="34" charset="0"/>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899404"/>
            <a:ext cx="10265688" cy="708779"/>
          </a:xfrm>
          <a:prstGeom prst="rect">
            <a:avLst/>
          </a:prstGeom>
          <a:noFill/>
          <a:ln/>
        </p:spPr>
        <p:txBody>
          <a:bodyPr wrap="none" lIns="0" tIns="0" rIns="0" bIns="0" rtlCol="0" anchor="t"/>
          <a:lstStyle/>
          <a:p>
            <a:pPr marL="0" indent="0" algn="l">
              <a:lnSpc>
                <a:spcPts val="5550"/>
              </a:lnSpc>
              <a:buNone/>
            </a:pPr>
            <a:r>
              <a:rPr lang="en-US" sz="3600" dirty="0">
                <a:solidFill>
                  <a:srgbClr val="CBCCCE"/>
                </a:solidFill>
                <a:latin typeface="Segoe UI Black" panose="020B0A02040204020203" pitchFamily="34" charset="0"/>
                <a:ea typeface="Segoe UI Black" panose="020B0A02040204020203" pitchFamily="34" charset="0"/>
                <a:cs typeface="Instrument Sans Semi Bold" pitchFamily="34" charset="-120"/>
              </a:rPr>
              <a:t>Target Audience &amp; Business Questions</a:t>
            </a:r>
            <a:endParaRPr lang="en-US" sz="3600" dirty="0">
              <a:latin typeface="Segoe UI Black" panose="020B0A02040204020203" pitchFamily="34" charset="0"/>
              <a:ea typeface="Segoe UI Black" panose="020B0A02040204020203" pitchFamily="34" charset="0"/>
            </a:endParaRPr>
          </a:p>
        </p:txBody>
      </p:sp>
      <p:sp>
        <p:nvSpPr>
          <p:cNvPr id="3" name="Text 1"/>
          <p:cNvSpPr/>
          <p:nvPr/>
        </p:nvSpPr>
        <p:spPr>
          <a:xfrm>
            <a:off x="793790" y="317515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BCCCE"/>
                </a:solidFill>
                <a:latin typeface="Segoe UI Black" panose="020B0A02040204020203" pitchFamily="34" charset="0"/>
                <a:ea typeface="Segoe UI Black" panose="020B0A02040204020203" pitchFamily="34" charset="0"/>
                <a:cs typeface="Instrument Sans Semi Bold" pitchFamily="34" charset="-120"/>
              </a:rPr>
              <a:t>Target Audience</a:t>
            </a:r>
            <a:endParaRPr lang="en-US" sz="2200" dirty="0">
              <a:latin typeface="Segoe UI Black" panose="020B0A02040204020203" pitchFamily="34" charset="0"/>
              <a:ea typeface="Segoe UI Black" panose="020B0A02040204020203" pitchFamily="34" charset="0"/>
            </a:endParaRPr>
          </a:p>
        </p:txBody>
      </p:sp>
      <p:sp>
        <p:nvSpPr>
          <p:cNvPr id="4" name="Text 2"/>
          <p:cNvSpPr/>
          <p:nvPr/>
        </p:nvSpPr>
        <p:spPr>
          <a:xfrm>
            <a:off x="793790" y="375630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Sales &amp; Marketing Teams</a:t>
            </a:r>
            <a:endParaRPr lang="en-US" sz="1750" dirty="0">
              <a:latin typeface="Segoe UI Black" panose="020B0A02040204020203" pitchFamily="34" charset="0"/>
              <a:ea typeface="Segoe UI Black" panose="020B0A02040204020203" pitchFamily="34" charset="0"/>
            </a:endParaRPr>
          </a:p>
        </p:txBody>
      </p:sp>
      <p:sp>
        <p:nvSpPr>
          <p:cNvPr id="5" name="Text 3"/>
          <p:cNvSpPr/>
          <p:nvPr/>
        </p:nvSpPr>
        <p:spPr>
          <a:xfrm>
            <a:off x="793790" y="419850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Retail Operations Management</a:t>
            </a:r>
            <a:endParaRPr lang="en-US" sz="1750" dirty="0">
              <a:latin typeface="Segoe UI Black" panose="020B0A02040204020203" pitchFamily="34" charset="0"/>
              <a:ea typeface="Segoe UI Black" panose="020B0A02040204020203" pitchFamily="34" charset="0"/>
            </a:endParaRPr>
          </a:p>
        </p:txBody>
      </p:sp>
      <p:sp>
        <p:nvSpPr>
          <p:cNvPr id="6" name="Text 4"/>
          <p:cNvSpPr/>
          <p:nvPr/>
        </p:nvSpPr>
        <p:spPr>
          <a:xfrm>
            <a:off x="793790" y="464069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Category Managers</a:t>
            </a:r>
            <a:endParaRPr lang="en-US" sz="1750" dirty="0">
              <a:latin typeface="Segoe UI Black" panose="020B0A02040204020203" pitchFamily="34" charset="0"/>
              <a:ea typeface="Segoe UI Black" panose="020B0A02040204020203" pitchFamily="34" charset="0"/>
            </a:endParaRPr>
          </a:p>
        </p:txBody>
      </p:sp>
      <p:sp>
        <p:nvSpPr>
          <p:cNvPr id="7" name="Text 5"/>
          <p:cNvSpPr/>
          <p:nvPr/>
        </p:nvSpPr>
        <p:spPr>
          <a:xfrm>
            <a:off x="793790" y="5082897"/>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Regional Managers</a:t>
            </a:r>
            <a:endParaRPr lang="en-US" sz="1750" dirty="0">
              <a:latin typeface="Segoe UI Black" panose="020B0A02040204020203" pitchFamily="34" charset="0"/>
              <a:ea typeface="Segoe UI Black" panose="020B0A02040204020203" pitchFamily="34" charset="0"/>
            </a:endParaRPr>
          </a:p>
        </p:txBody>
      </p:sp>
      <p:sp>
        <p:nvSpPr>
          <p:cNvPr id="8" name="Text 6"/>
          <p:cNvSpPr/>
          <p:nvPr/>
        </p:nvSpPr>
        <p:spPr>
          <a:xfrm>
            <a:off x="793790" y="5525095"/>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Senior Management &amp; Executives</a:t>
            </a:r>
            <a:endParaRPr lang="en-US" sz="1750" dirty="0">
              <a:latin typeface="Segoe UI Black" panose="020B0A02040204020203" pitchFamily="34" charset="0"/>
              <a:ea typeface="Segoe UI Black" panose="020B0A02040204020203" pitchFamily="34" charset="0"/>
            </a:endParaRPr>
          </a:p>
        </p:txBody>
      </p:sp>
      <p:sp>
        <p:nvSpPr>
          <p:cNvPr id="9" name="Text 7"/>
          <p:cNvSpPr/>
          <p:nvPr/>
        </p:nvSpPr>
        <p:spPr>
          <a:xfrm>
            <a:off x="7599521" y="3175159"/>
            <a:ext cx="4564856" cy="354330"/>
          </a:xfrm>
          <a:prstGeom prst="rect">
            <a:avLst/>
          </a:prstGeom>
          <a:noFill/>
          <a:ln/>
        </p:spPr>
        <p:txBody>
          <a:bodyPr wrap="none" lIns="0" tIns="0" rIns="0" bIns="0" rtlCol="0" anchor="t"/>
          <a:lstStyle/>
          <a:p>
            <a:pPr marL="0" indent="0" algn="l">
              <a:lnSpc>
                <a:spcPts val="2750"/>
              </a:lnSpc>
              <a:buNone/>
            </a:pPr>
            <a:r>
              <a:rPr lang="en-US" sz="2200" dirty="0">
                <a:solidFill>
                  <a:srgbClr val="CBCCCE"/>
                </a:solidFill>
                <a:latin typeface="Segoe UI Black" panose="020B0A02040204020203" pitchFamily="34" charset="0"/>
                <a:ea typeface="Segoe UI Black" panose="020B0A02040204020203" pitchFamily="34" charset="0"/>
                <a:cs typeface="Instrument Sans Semi Bold" pitchFamily="34" charset="-120"/>
              </a:rPr>
              <a:t>Key Business Questions Answered</a:t>
            </a:r>
            <a:endParaRPr lang="en-US" sz="2200" dirty="0">
              <a:latin typeface="Segoe UI Black" panose="020B0A02040204020203" pitchFamily="34" charset="0"/>
              <a:ea typeface="Segoe UI Black" panose="020B0A02040204020203" pitchFamily="34" charset="0"/>
            </a:endParaRPr>
          </a:p>
        </p:txBody>
      </p:sp>
      <p:sp>
        <p:nvSpPr>
          <p:cNvPr id="10" name="Text 8"/>
          <p:cNvSpPr/>
          <p:nvPr/>
        </p:nvSpPr>
        <p:spPr>
          <a:xfrm>
            <a:off x="7599521" y="375630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What are our total sales and profit for 2024?</a:t>
            </a:r>
            <a:endParaRPr lang="en-US" sz="1750" dirty="0">
              <a:latin typeface="Segoe UI Black" panose="020B0A02040204020203" pitchFamily="34" charset="0"/>
              <a:ea typeface="Segoe UI Black" panose="020B0A02040204020203" pitchFamily="34" charset="0"/>
            </a:endParaRPr>
          </a:p>
        </p:txBody>
      </p:sp>
      <p:sp>
        <p:nvSpPr>
          <p:cNvPr id="11" name="Text 9"/>
          <p:cNvSpPr/>
          <p:nvPr/>
        </p:nvSpPr>
        <p:spPr>
          <a:xfrm>
            <a:off x="7599521" y="419850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Which states and cities generate the most sales profit?</a:t>
            </a:r>
            <a:endParaRPr lang="en-US" sz="1750" dirty="0">
              <a:latin typeface="Segoe UI Black" panose="020B0A02040204020203" pitchFamily="34" charset="0"/>
              <a:ea typeface="Segoe UI Black" panose="020B0A02040204020203" pitchFamily="34" charset="0"/>
            </a:endParaRPr>
          </a:p>
        </p:txBody>
      </p:sp>
      <p:sp>
        <p:nvSpPr>
          <p:cNvPr id="12" name="Text 10"/>
          <p:cNvSpPr/>
          <p:nvPr/>
        </p:nvSpPr>
        <p:spPr>
          <a:xfrm>
            <a:off x="7599521" y="464069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Which clothing types are our top sellers?</a:t>
            </a:r>
            <a:endParaRPr lang="en-US" sz="1750" dirty="0">
              <a:latin typeface="Segoe UI Black" panose="020B0A02040204020203" pitchFamily="34" charset="0"/>
              <a:ea typeface="Segoe UI Black" panose="020B0A02040204020203" pitchFamily="34" charset="0"/>
            </a:endParaRPr>
          </a:p>
        </p:txBody>
      </p:sp>
      <p:sp>
        <p:nvSpPr>
          <p:cNvPr id="13" name="Text 11"/>
          <p:cNvSpPr/>
          <p:nvPr/>
        </p:nvSpPr>
        <p:spPr>
          <a:xfrm>
            <a:off x="7599521" y="5082897"/>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How do sales compare between owned and rented stores?</a:t>
            </a:r>
            <a:endParaRPr lang="en-US" sz="1750" dirty="0">
              <a:latin typeface="Segoe UI Black" panose="020B0A02040204020203" pitchFamily="34" charset="0"/>
              <a:ea typeface="Segoe UI Black" panose="020B0A02040204020203" pitchFamily="34" charset="0"/>
            </a:endParaRPr>
          </a:p>
        </p:txBody>
      </p:sp>
      <p:sp>
        <p:nvSpPr>
          <p:cNvPr id="14" name="Text 12"/>
          <p:cNvSpPr/>
          <p:nvPr/>
        </p:nvSpPr>
        <p:spPr>
          <a:xfrm>
            <a:off x="7599521" y="588799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What is the trend of our average sales profit by quarter?</a:t>
            </a:r>
            <a:endParaRPr lang="en-US" sz="1750" dirty="0">
              <a:latin typeface="Segoe UI Black" panose="020B0A02040204020203" pitchFamily="34" charset="0"/>
              <a:ea typeface="Segoe UI Black" panose="020B0A02040204020203"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826620"/>
            <a:ext cx="7748349" cy="708779"/>
          </a:xfrm>
          <a:prstGeom prst="rect">
            <a:avLst/>
          </a:prstGeom>
          <a:noFill/>
          <a:ln/>
        </p:spPr>
        <p:txBody>
          <a:bodyPr wrap="none" lIns="0" tIns="0" rIns="0" bIns="0" rtlCol="0" anchor="t"/>
          <a:lstStyle/>
          <a:p>
            <a:pPr marL="0" indent="0" algn="l">
              <a:lnSpc>
                <a:spcPts val="5550"/>
              </a:lnSpc>
              <a:buNone/>
            </a:pPr>
            <a:r>
              <a:rPr lang="en-US" sz="3600" b="1" dirty="0">
                <a:solidFill>
                  <a:srgbClr val="CBCCCE"/>
                </a:solidFill>
                <a:latin typeface="Segoe UI Black" panose="020B0A02040204020203" pitchFamily="34" charset="0"/>
                <a:ea typeface="Segoe UI Black" panose="020B0A02040204020203" pitchFamily="34" charset="0"/>
                <a:cs typeface="Instrument Sans Semi Bold" pitchFamily="34" charset="-120"/>
              </a:rPr>
              <a:t>Strategic Recommendations</a:t>
            </a:r>
            <a:endParaRPr lang="en-US" sz="3600" dirty="0">
              <a:latin typeface="Segoe UI Black" panose="020B0A02040204020203" pitchFamily="34" charset="0"/>
              <a:ea typeface="Segoe UI Black" panose="020B0A02040204020203" pitchFamily="34" charset="0"/>
            </a:endParaRPr>
          </a:p>
        </p:txBody>
      </p:sp>
      <p:grpSp>
        <p:nvGrpSpPr>
          <p:cNvPr id="11" name="Group 10">
            <a:extLst>
              <a:ext uri="{FF2B5EF4-FFF2-40B4-BE49-F238E27FC236}">
                <a16:creationId xmlns:a16="http://schemas.microsoft.com/office/drawing/2014/main" id="{A8077D26-BAB2-759E-B3B5-ECEBBAE6619B}"/>
              </a:ext>
            </a:extLst>
          </p:cNvPr>
          <p:cNvGrpSpPr/>
          <p:nvPr/>
        </p:nvGrpSpPr>
        <p:grpSpPr>
          <a:xfrm>
            <a:off x="789980" y="3292085"/>
            <a:ext cx="13050440" cy="2262307"/>
            <a:chOff x="793790" y="3581876"/>
            <a:chExt cx="13050440" cy="2262307"/>
          </a:xfrm>
        </p:grpSpPr>
        <p:sp>
          <p:nvSpPr>
            <p:cNvPr id="3" name="Text 1"/>
            <p:cNvSpPr/>
            <p:nvPr/>
          </p:nvSpPr>
          <p:spPr>
            <a:xfrm>
              <a:off x="793790" y="3581876"/>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CBCCCE"/>
                  </a:solidFill>
                  <a:latin typeface="Segoe UI Black" panose="020B0A02040204020203" pitchFamily="34" charset="0"/>
                  <a:ea typeface="Segoe UI Black" panose="020B0A02040204020203" pitchFamily="34" charset="0"/>
                  <a:cs typeface="Instrument Sans Semi Bold" pitchFamily="34" charset="-120"/>
                </a:rPr>
                <a:t>Short-Term Actions:</a:t>
              </a:r>
              <a:endParaRPr lang="en-US" sz="2650" dirty="0">
                <a:latin typeface="Segoe UI Black" panose="020B0A02040204020203" pitchFamily="34" charset="0"/>
                <a:ea typeface="Segoe UI Black" panose="020B0A02040204020203" pitchFamily="34" charset="0"/>
              </a:endParaRPr>
            </a:p>
          </p:txBody>
        </p:sp>
        <p:sp>
          <p:nvSpPr>
            <p:cNvPr id="4" name="Text 2"/>
            <p:cNvSpPr/>
            <p:nvPr/>
          </p:nvSpPr>
          <p:spPr>
            <a:xfrm>
              <a:off x="793790" y="423398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Promote underperforming products (e.g., Shoes, Jeans)</a:t>
              </a:r>
              <a:endParaRPr lang="en-US" sz="1750" dirty="0">
                <a:latin typeface="Segoe UI Black" panose="020B0A02040204020203" pitchFamily="34" charset="0"/>
                <a:ea typeface="Segoe UI Black" panose="020B0A02040204020203" pitchFamily="34" charset="0"/>
              </a:endParaRPr>
            </a:p>
          </p:txBody>
        </p:sp>
        <p:sp>
          <p:nvSpPr>
            <p:cNvPr id="5" name="Text 3"/>
            <p:cNvSpPr/>
            <p:nvPr/>
          </p:nvSpPr>
          <p:spPr>
            <a:xfrm>
              <a:off x="793790" y="4676180"/>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Expand in high-margin cities (Pondicherry, Ahmedabad)</a:t>
              </a:r>
              <a:endParaRPr lang="en-US" sz="1750" dirty="0">
                <a:latin typeface="Segoe UI Black" panose="020B0A02040204020203" pitchFamily="34" charset="0"/>
                <a:ea typeface="Segoe UI Black" panose="020B0A02040204020203" pitchFamily="34" charset="0"/>
              </a:endParaRPr>
            </a:p>
          </p:txBody>
        </p:sp>
        <p:sp>
          <p:nvSpPr>
            <p:cNvPr id="6" name="Text 4"/>
            <p:cNvSpPr/>
            <p:nvPr/>
          </p:nvSpPr>
          <p:spPr>
            <a:xfrm>
              <a:off x="793790" y="548128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Prepare inventory in Q2 for Q3 surge</a:t>
              </a:r>
              <a:endParaRPr lang="en-US" sz="1750" dirty="0">
                <a:latin typeface="Segoe UI Black" panose="020B0A02040204020203" pitchFamily="34" charset="0"/>
                <a:ea typeface="Segoe UI Black" panose="020B0A02040204020203" pitchFamily="34" charset="0"/>
              </a:endParaRPr>
            </a:p>
          </p:txBody>
        </p:sp>
        <p:sp>
          <p:nvSpPr>
            <p:cNvPr id="7" name="Text 5"/>
            <p:cNvSpPr/>
            <p:nvPr/>
          </p:nvSpPr>
          <p:spPr>
            <a:xfrm>
              <a:off x="7599521" y="3581876"/>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CBCCCE"/>
                  </a:solidFill>
                  <a:latin typeface="Segoe UI Black" panose="020B0A02040204020203" pitchFamily="34" charset="0"/>
                  <a:ea typeface="Segoe UI Black" panose="020B0A02040204020203" pitchFamily="34" charset="0"/>
                  <a:cs typeface="Instrument Sans Semi Bold" pitchFamily="34" charset="-120"/>
                </a:rPr>
                <a:t>Long-Term Actions:</a:t>
              </a:r>
              <a:endParaRPr lang="en-US" sz="2650" dirty="0">
                <a:latin typeface="Segoe UI Black" panose="020B0A02040204020203" pitchFamily="34" charset="0"/>
                <a:ea typeface="Segoe UI Black" panose="020B0A02040204020203" pitchFamily="34" charset="0"/>
              </a:endParaRPr>
            </a:p>
          </p:txBody>
        </p:sp>
        <p:sp>
          <p:nvSpPr>
            <p:cNvPr id="8" name="Text 6"/>
            <p:cNvSpPr/>
            <p:nvPr/>
          </p:nvSpPr>
          <p:spPr>
            <a:xfrm>
              <a:off x="7599521" y="4233982"/>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Explore store ownership opportunities based on city profitability</a:t>
              </a:r>
              <a:endParaRPr lang="en-US" sz="1750" dirty="0">
                <a:latin typeface="Segoe UI Black" panose="020B0A02040204020203" pitchFamily="34" charset="0"/>
                <a:ea typeface="Segoe UI Black" panose="020B0A02040204020203" pitchFamily="34" charset="0"/>
              </a:endParaRPr>
            </a:p>
          </p:txBody>
        </p:sp>
        <p:sp>
          <p:nvSpPr>
            <p:cNvPr id="9" name="Text 7"/>
            <p:cNvSpPr/>
            <p:nvPr/>
          </p:nvSpPr>
          <p:spPr>
            <a:xfrm>
              <a:off x="7599521" y="503908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Align campaigns to boost underrepresented categories</a:t>
              </a:r>
              <a:endParaRPr lang="en-US" sz="1750" dirty="0">
                <a:latin typeface="Segoe UI Black" panose="020B0A02040204020203" pitchFamily="34" charset="0"/>
                <a:ea typeface="Segoe UI Black" panose="020B0A02040204020203" pitchFamily="34" charset="0"/>
              </a:endParaRPr>
            </a:p>
          </p:txBody>
        </p:sp>
        <p:sp>
          <p:nvSpPr>
            <p:cNvPr id="10" name="Text 8"/>
            <p:cNvSpPr/>
            <p:nvPr/>
          </p:nvSpPr>
          <p:spPr>
            <a:xfrm>
              <a:off x="7599521" y="548128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Use profit heatmaps to guide regional expansion</a:t>
              </a:r>
              <a:endParaRPr lang="en-US" sz="1750" dirty="0">
                <a:latin typeface="Segoe UI Black" panose="020B0A02040204020203" pitchFamily="34" charset="0"/>
                <a:ea typeface="Segoe UI Black" panose="020B0A02040204020203" pitchFamily="34" charset="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b="8807"/>
          <a:stretch/>
        </p:blipFill>
        <p:spPr>
          <a:xfrm>
            <a:off x="9144000" y="39040"/>
            <a:ext cx="5486400" cy="7504771"/>
          </a:xfrm>
          <a:prstGeom prst="rect">
            <a:avLst/>
          </a:prstGeom>
        </p:spPr>
      </p:pic>
      <p:sp>
        <p:nvSpPr>
          <p:cNvPr id="3" name="Text 0"/>
          <p:cNvSpPr/>
          <p:nvPr/>
        </p:nvSpPr>
        <p:spPr>
          <a:xfrm>
            <a:off x="793790" y="1663303"/>
            <a:ext cx="5670590" cy="708779"/>
          </a:xfrm>
          <a:prstGeom prst="rect">
            <a:avLst/>
          </a:prstGeom>
          <a:noFill/>
          <a:ln/>
        </p:spPr>
        <p:txBody>
          <a:bodyPr wrap="none" lIns="0" tIns="0" rIns="0" bIns="0" rtlCol="0" anchor="t"/>
          <a:lstStyle/>
          <a:p>
            <a:pPr marL="0" indent="0" algn="l">
              <a:lnSpc>
                <a:spcPts val="5550"/>
              </a:lnSpc>
              <a:buNone/>
            </a:pPr>
            <a:r>
              <a:rPr lang="en-US" sz="3600" dirty="0">
                <a:solidFill>
                  <a:srgbClr val="CBCCCE"/>
                </a:solidFill>
                <a:latin typeface="Segoe UI Black" panose="020B0A02040204020203" pitchFamily="34" charset="0"/>
                <a:ea typeface="Segoe UI Black" panose="020B0A02040204020203" pitchFamily="34" charset="0"/>
                <a:cs typeface="Instrument Sans Semi Bold" pitchFamily="34" charset="-120"/>
              </a:rPr>
              <a:t>Conclusion &amp; Impact</a:t>
            </a:r>
            <a:endParaRPr lang="en-US" sz="3600" dirty="0">
              <a:latin typeface="Segoe UI Black" panose="020B0A02040204020203" pitchFamily="34" charset="0"/>
              <a:ea typeface="Segoe UI Black" panose="020B0A02040204020203" pitchFamily="34" charset="0"/>
            </a:endParaRPr>
          </a:p>
        </p:txBody>
      </p:sp>
      <p:sp>
        <p:nvSpPr>
          <p:cNvPr id="4" name="Shape 1"/>
          <p:cNvSpPr/>
          <p:nvPr/>
        </p:nvSpPr>
        <p:spPr>
          <a:xfrm>
            <a:off x="793790" y="2712244"/>
            <a:ext cx="3664863" cy="4112302"/>
          </a:xfrm>
          <a:prstGeom prst="roundRect">
            <a:avLst>
              <a:gd name="adj" fmla="val 2599"/>
            </a:avLst>
          </a:prstGeom>
          <a:solidFill>
            <a:srgbClr val="3D3D42"/>
          </a:solidFill>
          <a:ln w="7620">
            <a:solidFill>
              <a:srgbClr val="56565B"/>
            </a:solidFill>
            <a:prstDash val="solid"/>
          </a:ln>
        </p:spPr>
      </p:sp>
      <p:sp>
        <p:nvSpPr>
          <p:cNvPr id="5" name="Text 2"/>
          <p:cNvSpPr/>
          <p:nvPr/>
        </p:nvSpPr>
        <p:spPr>
          <a:xfrm>
            <a:off x="1028224" y="2946678"/>
            <a:ext cx="3195995" cy="708660"/>
          </a:xfrm>
          <a:prstGeom prst="rect">
            <a:avLst/>
          </a:prstGeom>
          <a:noFill/>
          <a:ln/>
        </p:spPr>
        <p:txBody>
          <a:bodyPr wrap="square" lIns="0" tIns="0" rIns="0" bIns="0" rtlCol="0" anchor="t"/>
          <a:lstStyle/>
          <a:p>
            <a:pPr marL="0" indent="0" algn="l">
              <a:lnSpc>
                <a:spcPts val="2750"/>
              </a:lnSpc>
              <a:buNone/>
            </a:pPr>
            <a:r>
              <a:rPr lang="en-US" sz="2200" dirty="0">
                <a:solidFill>
                  <a:srgbClr val="CFD0D8"/>
                </a:solidFill>
                <a:latin typeface="Segoe UI Black" panose="020B0A02040204020203" pitchFamily="34" charset="0"/>
                <a:ea typeface="Segoe UI Black" panose="020B0A02040204020203" pitchFamily="34" charset="0"/>
                <a:cs typeface="Instrument Sans Semi Bold" pitchFamily="34" charset="-120"/>
              </a:rPr>
              <a:t>Comprehensive Analysis</a:t>
            </a:r>
            <a:endParaRPr lang="en-US" sz="2200" dirty="0">
              <a:latin typeface="Segoe UI Black" panose="020B0A02040204020203" pitchFamily="34" charset="0"/>
              <a:ea typeface="Segoe UI Black" panose="020B0A02040204020203" pitchFamily="34" charset="0"/>
            </a:endParaRPr>
          </a:p>
        </p:txBody>
      </p:sp>
      <p:sp>
        <p:nvSpPr>
          <p:cNvPr id="6" name="Text 3"/>
          <p:cNvSpPr/>
          <p:nvPr/>
        </p:nvSpPr>
        <p:spPr>
          <a:xfrm>
            <a:off x="1028224" y="3791426"/>
            <a:ext cx="3195995" cy="2540318"/>
          </a:xfrm>
          <a:prstGeom prst="rect">
            <a:avLst/>
          </a:prstGeom>
          <a:noFill/>
          <a:ln/>
        </p:spPr>
        <p:txBody>
          <a:bodyPr wrap="square" lIns="0" tIns="0" rIns="0" bIns="0" rtlCol="0" anchor="t"/>
          <a:lstStyle/>
          <a:p>
            <a:pPr marL="0" indent="0" algn="l">
              <a:lnSpc>
                <a:spcPts val="2850"/>
              </a:lnSpc>
              <a:buNone/>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The Zudio Sales in 2024 Power BI dashboard provides a 360-degree view of Zudio's performance, from overall KPIs to granular insights by clothing type, category, city, and state.</a:t>
            </a:r>
            <a:endParaRPr lang="en-US" sz="1750" dirty="0">
              <a:latin typeface="Segoe UI Black" panose="020B0A02040204020203" pitchFamily="34" charset="0"/>
              <a:ea typeface="Segoe UI Black" panose="020B0A02040204020203" pitchFamily="34" charset="0"/>
            </a:endParaRPr>
          </a:p>
        </p:txBody>
      </p:sp>
      <p:sp>
        <p:nvSpPr>
          <p:cNvPr id="7" name="Shape 4"/>
          <p:cNvSpPr/>
          <p:nvPr/>
        </p:nvSpPr>
        <p:spPr>
          <a:xfrm>
            <a:off x="4685467" y="2712243"/>
            <a:ext cx="3664863" cy="4112301"/>
          </a:xfrm>
          <a:prstGeom prst="roundRect">
            <a:avLst>
              <a:gd name="adj" fmla="val 2599"/>
            </a:avLst>
          </a:prstGeom>
          <a:solidFill>
            <a:srgbClr val="3D3D42"/>
          </a:solidFill>
          <a:ln w="7620">
            <a:solidFill>
              <a:srgbClr val="56565B"/>
            </a:solidFill>
            <a:prstDash val="solid"/>
          </a:ln>
        </p:spPr>
      </p:sp>
      <p:sp>
        <p:nvSpPr>
          <p:cNvPr id="8" name="Text 5"/>
          <p:cNvSpPr/>
          <p:nvPr/>
        </p:nvSpPr>
        <p:spPr>
          <a:xfrm>
            <a:off x="4919901" y="2946678"/>
            <a:ext cx="3195995" cy="708660"/>
          </a:xfrm>
          <a:prstGeom prst="rect">
            <a:avLst/>
          </a:prstGeom>
          <a:noFill/>
          <a:ln/>
        </p:spPr>
        <p:txBody>
          <a:bodyPr wrap="square" lIns="0" tIns="0" rIns="0" bIns="0" rtlCol="0" anchor="t"/>
          <a:lstStyle/>
          <a:p>
            <a:pPr marL="0" indent="0" algn="l">
              <a:lnSpc>
                <a:spcPts val="2750"/>
              </a:lnSpc>
              <a:buNone/>
            </a:pPr>
            <a:r>
              <a:rPr lang="en-US" sz="2200" dirty="0">
                <a:solidFill>
                  <a:srgbClr val="CFD0D8"/>
                </a:solidFill>
                <a:latin typeface="Segoe UI Black" panose="020B0A02040204020203" pitchFamily="34" charset="0"/>
                <a:ea typeface="Segoe UI Black" panose="020B0A02040204020203" pitchFamily="34" charset="0"/>
                <a:cs typeface="Instrument Sans Semi Bold" pitchFamily="34" charset="-120"/>
              </a:rPr>
              <a:t>Empowering Decision-Making</a:t>
            </a:r>
            <a:endParaRPr lang="en-US" sz="2200" dirty="0">
              <a:latin typeface="Segoe UI Black" panose="020B0A02040204020203" pitchFamily="34" charset="0"/>
              <a:ea typeface="Segoe UI Black" panose="020B0A02040204020203" pitchFamily="34" charset="0"/>
            </a:endParaRPr>
          </a:p>
        </p:txBody>
      </p:sp>
      <p:sp>
        <p:nvSpPr>
          <p:cNvPr id="9" name="Text 6"/>
          <p:cNvSpPr/>
          <p:nvPr/>
        </p:nvSpPr>
        <p:spPr>
          <a:xfrm>
            <a:off x="4919901" y="3791426"/>
            <a:ext cx="3195995" cy="1814513"/>
          </a:xfrm>
          <a:prstGeom prst="rect">
            <a:avLst/>
          </a:prstGeom>
          <a:noFill/>
          <a:ln/>
        </p:spPr>
        <p:txBody>
          <a:bodyPr wrap="square" lIns="0" tIns="0" rIns="0" bIns="0" rtlCol="0" anchor="t"/>
          <a:lstStyle/>
          <a:p>
            <a:pPr marL="0" indent="0" algn="l">
              <a:lnSpc>
                <a:spcPts val="2850"/>
              </a:lnSpc>
              <a:buNone/>
            </a:pPr>
            <a:r>
              <a:rPr lang="en-US" sz="1750" dirty="0">
                <a:solidFill>
                  <a:srgbClr val="CFD0D8"/>
                </a:solidFill>
                <a:latin typeface="Segoe UI Black" panose="020B0A02040204020203" pitchFamily="34" charset="0"/>
                <a:ea typeface="Segoe UI Black" panose="020B0A02040204020203" pitchFamily="34" charset="0"/>
                <a:cs typeface="Instrument Sans Medium" pitchFamily="34" charset="-120"/>
              </a:rPr>
              <a:t>Its interactive nature empowers stakeholders to extract relevant information, identify patterns, and uncover actionable insights efficiently.</a:t>
            </a:r>
            <a:endParaRPr lang="en-US" sz="1750" dirty="0">
              <a:latin typeface="Segoe UI Black" panose="020B0A02040204020203" pitchFamily="34" charset="0"/>
              <a:ea typeface="Segoe UI Black" panose="020B0A02040204020203"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646</Words>
  <Application>Microsoft Office PowerPoint</Application>
  <PresentationFormat>Custom</PresentationFormat>
  <Paragraphs>79</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Segoe UI Black</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Samyak Lavhande</cp:lastModifiedBy>
  <cp:revision>6</cp:revision>
  <dcterms:created xsi:type="dcterms:W3CDTF">2025-05-28T07:33:28Z</dcterms:created>
  <dcterms:modified xsi:type="dcterms:W3CDTF">2025-05-28T10:29:37Z</dcterms:modified>
</cp:coreProperties>
</file>